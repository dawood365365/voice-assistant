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1"/>
  </p:sldMasterIdLst>
  <p:notesMasterIdLst>
    <p:notesMasterId r:id="rId23"/>
  </p:notesMasterIdLst>
  <p:sldIdLst>
    <p:sldId id="303" r:id="rId2"/>
    <p:sldId id="304" r:id="rId3"/>
    <p:sldId id="352" r:id="rId4"/>
    <p:sldId id="339" r:id="rId5"/>
    <p:sldId id="276" r:id="rId6"/>
    <p:sldId id="287" r:id="rId7"/>
    <p:sldId id="288" r:id="rId8"/>
    <p:sldId id="289" r:id="rId9"/>
    <p:sldId id="290" r:id="rId10"/>
    <p:sldId id="291" r:id="rId11"/>
    <p:sldId id="340" r:id="rId12"/>
    <p:sldId id="350" r:id="rId13"/>
    <p:sldId id="351" r:id="rId14"/>
    <p:sldId id="353" r:id="rId15"/>
    <p:sldId id="343" r:id="rId16"/>
    <p:sldId id="349" r:id="rId17"/>
    <p:sldId id="344" r:id="rId18"/>
    <p:sldId id="345" r:id="rId19"/>
    <p:sldId id="346" r:id="rId20"/>
    <p:sldId id="347" r:id="rId21"/>
    <p:sldId id="348" r:id="rId22"/>
  </p:sldIdLst>
  <p:sldSz cx="9144000" cy="5715000" type="screen16x1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355600" indent="10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712788" indent="20161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068388" indent="303213"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425575" indent="403225"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a:srgbClr val="33CC33"/>
    <a:srgbClr val="FF9933"/>
    <a:srgbClr val="00CC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60"/>
  </p:normalViewPr>
  <p:slideViewPr>
    <p:cSldViewPr>
      <p:cViewPr varScale="1">
        <p:scale>
          <a:sx n="110" d="100"/>
          <a:sy n="110" d="100"/>
        </p:scale>
        <p:origin x="1201" y="71"/>
      </p:cViewPr>
      <p:guideLst>
        <p:guide orient="horz" pos="180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ACAEDA0C-305E-CDE5-D8ED-B5DD8BBFBF7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US"/>
          </a:p>
        </p:txBody>
      </p:sp>
      <p:sp>
        <p:nvSpPr>
          <p:cNvPr id="90115" name="Rectangle 3">
            <a:extLst>
              <a:ext uri="{FF2B5EF4-FFF2-40B4-BE49-F238E27FC236}">
                <a16:creationId xmlns:a16="http://schemas.microsoft.com/office/drawing/2014/main" id="{D6298C10-C629-E5EA-F82C-B9AD7353CEF8}"/>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US"/>
          </a:p>
        </p:txBody>
      </p:sp>
      <p:sp>
        <p:nvSpPr>
          <p:cNvPr id="2052" name="Rectangle 4">
            <a:extLst>
              <a:ext uri="{FF2B5EF4-FFF2-40B4-BE49-F238E27FC236}">
                <a16:creationId xmlns:a16="http://schemas.microsoft.com/office/drawing/2014/main" id="{273D3F1F-D601-EA6D-2E52-DF5001F1E96B}"/>
              </a:ext>
            </a:extLst>
          </p:cNvPr>
          <p:cNvSpPr>
            <a:spLocks noRot="1" noChangeArrowheads="1" noTextEdit="1"/>
          </p:cNvSpPr>
          <p:nvPr>
            <p:ph type="sldImg" idx="2"/>
          </p:nvPr>
        </p:nvSpPr>
        <p:spPr bwMode="auto">
          <a:xfrm>
            <a:off x="685800" y="685800"/>
            <a:ext cx="54864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7" name="Rectangle 5">
            <a:extLst>
              <a:ext uri="{FF2B5EF4-FFF2-40B4-BE49-F238E27FC236}">
                <a16:creationId xmlns:a16="http://schemas.microsoft.com/office/drawing/2014/main" id="{7B752A44-33CD-78BF-09BB-FA5FD6D1E46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0118" name="Rectangle 6">
            <a:extLst>
              <a:ext uri="{FF2B5EF4-FFF2-40B4-BE49-F238E27FC236}">
                <a16:creationId xmlns:a16="http://schemas.microsoft.com/office/drawing/2014/main" id="{7A95B94C-C5F0-B736-CBA7-9A1C63E6DBCE}"/>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US"/>
          </a:p>
        </p:txBody>
      </p:sp>
      <p:sp>
        <p:nvSpPr>
          <p:cNvPr id="90119" name="Rectangle 7">
            <a:extLst>
              <a:ext uri="{FF2B5EF4-FFF2-40B4-BE49-F238E27FC236}">
                <a16:creationId xmlns:a16="http://schemas.microsoft.com/office/drawing/2014/main" id="{0B146932-F4A5-D6F4-2EE7-C8FB9B6EA77B}"/>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28DA34AB-E1FE-4B7D-A286-F97F19E3038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Arial" charset="0"/>
        <a:ea typeface="+mn-ea"/>
        <a:cs typeface="Arial" charset="0"/>
      </a:defRPr>
    </a:lvl1pPr>
    <a:lvl2pPr marL="355600" algn="l" rtl="0" eaLnBrk="0" fontAlgn="base" hangingPunct="0">
      <a:spcBef>
        <a:spcPct val="30000"/>
      </a:spcBef>
      <a:spcAft>
        <a:spcPct val="0"/>
      </a:spcAft>
      <a:defRPr sz="900" kern="1200">
        <a:solidFill>
          <a:schemeClr val="tx1"/>
        </a:solidFill>
        <a:latin typeface="Arial" charset="0"/>
        <a:ea typeface="+mn-ea"/>
        <a:cs typeface="Arial" charset="0"/>
      </a:defRPr>
    </a:lvl2pPr>
    <a:lvl3pPr marL="712788" algn="l" rtl="0" eaLnBrk="0" fontAlgn="base" hangingPunct="0">
      <a:spcBef>
        <a:spcPct val="30000"/>
      </a:spcBef>
      <a:spcAft>
        <a:spcPct val="0"/>
      </a:spcAft>
      <a:defRPr sz="900" kern="1200">
        <a:solidFill>
          <a:schemeClr val="tx1"/>
        </a:solidFill>
        <a:latin typeface="Arial" charset="0"/>
        <a:ea typeface="+mn-ea"/>
        <a:cs typeface="Arial" charset="0"/>
      </a:defRPr>
    </a:lvl3pPr>
    <a:lvl4pPr marL="1068388" algn="l" rtl="0" eaLnBrk="0" fontAlgn="base" hangingPunct="0">
      <a:spcBef>
        <a:spcPct val="30000"/>
      </a:spcBef>
      <a:spcAft>
        <a:spcPct val="0"/>
      </a:spcAft>
      <a:defRPr sz="900" kern="1200">
        <a:solidFill>
          <a:schemeClr val="tx1"/>
        </a:solidFill>
        <a:latin typeface="Arial" charset="0"/>
        <a:ea typeface="+mn-ea"/>
        <a:cs typeface="Arial" charset="0"/>
      </a:defRPr>
    </a:lvl4pPr>
    <a:lvl5pPr marL="1425575" algn="l" rtl="0" eaLnBrk="0" fontAlgn="base" hangingPunct="0">
      <a:spcBef>
        <a:spcPct val="30000"/>
      </a:spcBef>
      <a:spcAft>
        <a:spcPct val="0"/>
      </a:spcAft>
      <a:defRPr sz="900" kern="1200">
        <a:solidFill>
          <a:schemeClr val="tx1"/>
        </a:solidFill>
        <a:latin typeface="Arial" charset="0"/>
        <a:ea typeface="+mn-ea"/>
        <a:cs typeface="Arial" charset="0"/>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4EF3CD78-1DC9-43C9-A1D2-89E1D12950D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0202A65-549D-F2D0-482D-D7C40F0BB11A}"/>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D622158E-2655-B563-D65F-1797F3810756}"/>
              </a:ext>
            </a:extLst>
          </p:cNvPr>
          <p:cNvSpPr>
            <a:spLocks noGrp="1" noChangeArrowheads="1"/>
          </p:cNvSpPr>
          <p:nvPr>
            <p:ph type="sldNum" sz="quarter" idx="12"/>
          </p:nvPr>
        </p:nvSpPr>
        <p:spPr>
          <a:ln/>
        </p:spPr>
        <p:txBody>
          <a:bodyPr/>
          <a:lstStyle>
            <a:lvl1pPr>
              <a:defRPr/>
            </a:lvl1pPr>
          </a:lstStyle>
          <a:p>
            <a:pPr>
              <a:defRPr/>
            </a:pPr>
            <a:fld id="{89666D32-4E29-4E39-9DF2-3257B720B339}" type="slidenum">
              <a:rPr lang="en-US" altLang="en-US"/>
              <a:pPr>
                <a:defRPr/>
              </a:pPr>
              <a:t>‹#›</a:t>
            </a:fld>
            <a:endParaRPr lang="en-US" altLang="en-US"/>
          </a:p>
        </p:txBody>
      </p:sp>
    </p:spTree>
    <p:extLst>
      <p:ext uri="{BB962C8B-B14F-4D97-AF65-F5344CB8AC3E}">
        <p14:creationId xmlns:p14="http://schemas.microsoft.com/office/powerpoint/2010/main" val="1254598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15427AB-1CD0-29D9-690E-084E3C36EE3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8DA8B69-0EE2-73F7-2037-4EBEA2EC7EC0}"/>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7D1FF545-6382-9E2E-01C0-53256CAFB2FB}"/>
              </a:ext>
            </a:extLst>
          </p:cNvPr>
          <p:cNvSpPr>
            <a:spLocks noGrp="1" noChangeArrowheads="1"/>
          </p:cNvSpPr>
          <p:nvPr>
            <p:ph type="sldNum" sz="quarter" idx="12"/>
          </p:nvPr>
        </p:nvSpPr>
        <p:spPr>
          <a:ln/>
        </p:spPr>
        <p:txBody>
          <a:bodyPr/>
          <a:lstStyle>
            <a:lvl1pPr>
              <a:defRPr/>
            </a:lvl1pPr>
          </a:lstStyle>
          <a:p>
            <a:pPr>
              <a:defRPr/>
            </a:pPr>
            <a:fld id="{7897EEB7-F39A-4D40-BA99-70BB8F291689}" type="slidenum">
              <a:rPr lang="en-US" altLang="en-US"/>
              <a:pPr>
                <a:defRPr/>
              </a:pPr>
              <a:t>‹#›</a:t>
            </a:fld>
            <a:endParaRPr lang="en-US" altLang="en-US"/>
          </a:p>
        </p:txBody>
      </p:sp>
    </p:spTree>
    <p:extLst>
      <p:ext uri="{BB962C8B-B14F-4D97-AF65-F5344CB8AC3E}">
        <p14:creationId xmlns:p14="http://schemas.microsoft.com/office/powerpoint/2010/main" val="520007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40BCAA91-3A7D-195E-D4D7-CC282A6EE62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E7FE0AF-7548-F21F-5AE4-FE4C351B3A36}"/>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0E1C5462-B1BA-5D56-F233-7BF898B1AAAE}"/>
              </a:ext>
            </a:extLst>
          </p:cNvPr>
          <p:cNvSpPr>
            <a:spLocks noGrp="1" noChangeArrowheads="1"/>
          </p:cNvSpPr>
          <p:nvPr>
            <p:ph type="sldNum" sz="quarter" idx="12"/>
          </p:nvPr>
        </p:nvSpPr>
        <p:spPr>
          <a:ln/>
        </p:spPr>
        <p:txBody>
          <a:bodyPr/>
          <a:lstStyle>
            <a:lvl1pPr>
              <a:defRPr/>
            </a:lvl1pPr>
          </a:lstStyle>
          <a:p>
            <a:pPr>
              <a:defRPr/>
            </a:pPr>
            <a:fld id="{C0498E90-8B1B-4058-9D52-0638EAB374CC}" type="slidenum">
              <a:rPr lang="en-US" altLang="en-US"/>
              <a:pPr>
                <a:defRPr/>
              </a:pPr>
              <a:t>‹#›</a:t>
            </a:fld>
            <a:endParaRPr lang="en-US" altLang="en-US"/>
          </a:p>
        </p:txBody>
      </p:sp>
    </p:spTree>
    <p:extLst>
      <p:ext uri="{BB962C8B-B14F-4D97-AF65-F5344CB8AC3E}">
        <p14:creationId xmlns:p14="http://schemas.microsoft.com/office/powerpoint/2010/main" val="3472479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F74496D-D508-C7C3-F8A0-E3C717577CA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86E9F0E-28A6-C8DA-0434-22C9F20EAF6F}"/>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BE65CC73-AF0B-CA1A-E317-C6FB9E0E645B}"/>
              </a:ext>
            </a:extLst>
          </p:cNvPr>
          <p:cNvSpPr>
            <a:spLocks noGrp="1" noChangeArrowheads="1"/>
          </p:cNvSpPr>
          <p:nvPr>
            <p:ph type="sldNum" sz="quarter" idx="12"/>
          </p:nvPr>
        </p:nvSpPr>
        <p:spPr>
          <a:ln/>
        </p:spPr>
        <p:txBody>
          <a:bodyPr/>
          <a:lstStyle>
            <a:lvl1pPr>
              <a:defRPr/>
            </a:lvl1pPr>
          </a:lstStyle>
          <a:p>
            <a:pPr>
              <a:defRPr/>
            </a:pPr>
            <a:fld id="{740A187B-19BF-475E-8A6F-7D60232C409A}" type="slidenum">
              <a:rPr lang="en-US" altLang="en-US"/>
              <a:pPr>
                <a:defRPr/>
              </a:pPr>
              <a:t>‹#›</a:t>
            </a:fld>
            <a:endParaRPr lang="en-US" altLang="en-US"/>
          </a:p>
        </p:txBody>
      </p:sp>
    </p:spTree>
    <p:extLst>
      <p:ext uri="{BB962C8B-B14F-4D97-AF65-F5344CB8AC3E}">
        <p14:creationId xmlns:p14="http://schemas.microsoft.com/office/powerpoint/2010/main" val="116475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1DE87E7-1AC3-BC14-4D3E-23389622FC29}"/>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331676F8-BA4E-63A1-0447-C0FDF54747F5}"/>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9" name="Rectangle 6">
            <a:extLst>
              <a:ext uri="{FF2B5EF4-FFF2-40B4-BE49-F238E27FC236}">
                <a16:creationId xmlns:a16="http://schemas.microsoft.com/office/drawing/2014/main" id="{2252109D-3C41-66E7-D307-DE48E1685110}"/>
              </a:ext>
            </a:extLst>
          </p:cNvPr>
          <p:cNvSpPr>
            <a:spLocks noGrp="1" noChangeArrowheads="1"/>
          </p:cNvSpPr>
          <p:nvPr>
            <p:ph type="sldNum" sz="quarter" idx="12"/>
          </p:nvPr>
        </p:nvSpPr>
        <p:spPr>
          <a:ln/>
        </p:spPr>
        <p:txBody>
          <a:bodyPr/>
          <a:lstStyle>
            <a:lvl1pPr>
              <a:defRPr/>
            </a:lvl1pPr>
          </a:lstStyle>
          <a:p>
            <a:pPr>
              <a:defRPr/>
            </a:pPr>
            <a:fld id="{4F516A3A-FBD4-4622-B6A9-50C154CBE726}" type="slidenum">
              <a:rPr lang="en-US" altLang="en-US"/>
              <a:pPr>
                <a:defRPr/>
              </a:pPr>
              <a:t>‹#›</a:t>
            </a:fld>
            <a:endParaRPr lang="en-US" altLang="en-US"/>
          </a:p>
        </p:txBody>
      </p:sp>
    </p:spTree>
    <p:extLst>
      <p:ext uri="{BB962C8B-B14F-4D97-AF65-F5344CB8AC3E}">
        <p14:creationId xmlns:p14="http://schemas.microsoft.com/office/powerpoint/2010/main" val="2510936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859923D-1D8F-74AA-0E3B-8C14FAFA467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BA3F2F2B-654E-56C6-E0C3-4D5018082CA4}"/>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5" name="Rectangle 6">
            <a:extLst>
              <a:ext uri="{FF2B5EF4-FFF2-40B4-BE49-F238E27FC236}">
                <a16:creationId xmlns:a16="http://schemas.microsoft.com/office/drawing/2014/main" id="{1860B1DF-A804-07CC-297E-EE45305ACD28}"/>
              </a:ext>
            </a:extLst>
          </p:cNvPr>
          <p:cNvSpPr>
            <a:spLocks noGrp="1" noChangeArrowheads="1"/>
          </p:cNvSpPr>
          <p:nvPr>
            <p:ph type="sldNum" sz="quarter" idx="12"/>
          </p:nvPr>
        </p:nvSpPr>
        <p:spPr>
          <a:ln/>
        </p:spPr>
        <p:txBody>
          <a:bodyPr/>
          <a:lstStyle>
            <a:lvl1pPr>
              <a:defRPr/>
            </a:lvl1pPr>
          </a:lstStyle>
          <a:p>
            <a:pPr>
              <a:defRPr/>
            </a:pPr>
            <a:fld id="{DE5C99DE-A451-4D79-97E9-F2D66E0C51C7}" type="slidenum">
              <a:rPr lang="en-US" altLang="en-US"/>
              <a:pPr>
                <a:defRPr/>
              </a:pPr>
              <a:t>‹#›</a:t>
            </a:fld>
            <a:endParaRPr lang="en-US" altLang="en-US"/>
          </a:p>
        </p:txBody>
      </p:sp>
    </p:spTree>
    <p:extLst>
      <p:ext uri="{BB962C8B-B14F-4D97-AF65-F5344CB8AC3E}">
        <p14:creationId xmlns:p14="http://schemas.microsoft.com/office/powerpoint/2010/main" val="1320999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C6289B7-0CC8-204E-BB13-954CD45F078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BDCB65CA-30CB-FDD9-CDAD-68F8B5BED53F}"/>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4" name="Rectangle 6">
            <a:extLst>
              <a:ext uri="{FF2B5EF4-FFF2-40B4-BE49-F238E27FC236}">
                <a16:creationId xmlns:a16="http://schemas.microsoft.com/office/drawing/2014/main" id="{8545727D-D27A-2355-232F-BBC77DF625DC}"/>
              </a:ext>
            </a:extLst>
          </p:cNvPr>
          <p:cNvSpPr>
            <a:spLocks noGrp="1" noChangeArrowheads="1"/>
          </p:cNvSpPr>
          <p:nvPr>
            <p:ph type="sldNum" sz="quarter" idx="12"/>
          </p:nvPr>
        </p:nvSpPr>
        <p:spPr>
          <a:ln/>
        </p:spPr>
        <p:txBody>
          <a:bodyPr/>
          <a:lstStyle>
            <a:lvl1pPr>
              <a:defRPr/>
            </a:lvl1pPr>
          </a:lstStyle>
          <a:p>
            <a:pPr>
              <a:defRPr/>
            </a:pPr>
            <a:fld id="{53DF9668-969D-4F8E-BA14-3E7BB6D362DE}" type="slidenum">
              <a:rPr lang="en-US" altLang="en-US"/>
              <a:pPr>
                <a:defRPr/>
              </a:pPr>
              <a:t>‹#›</a:t>
            </a:fld>
            <a:endParaRPr lang="en-US" altLang="en-US"/>
          </a:p>
        </p:txBody>
      </p:sp>
    </p:spTree>
    <p:extLst>
      <p:ext uri="{BB962C8B-B14F-4D97-AF65-F5344CB8AC3E}">
        <p14:creationId xmlns:p14="http://schemas.microsoft.com/office/powerpoint/2010/main" val="2175114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3"/>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195918"/>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2C99F17-E76C-0E55-D567-0E02D49F17D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B2383D9-325B-814F-0CAA-0EB633C6705E}"/>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B7DE9EFD-A06F-A798-802A-D0235170C0AA}"/>
              </a:ext>
            </a:extLst>
          </p:cNvPr>
          <p:cNvSpPr>
            <a:spLocks noGrp="1" noChangeArrowheads="1"/>
          </p:cNvSpPr>
          <p:nvPr>
            <p:ph type="sldNum" sz="quarter" idx="12"/>
          </p:nvPr>
        </p:nvSpPr>
        <p:spPr>
          <a:ln/>
        </p:spPr>
        <p:txBody>
          <a:bodyPr/>
          <a:lstStyle>
            <a:lvl1pPr>
              <a:defRPr/>
            </a:lvl1pPr>
          </a:lstStyle>
          <a:p>
            <a:pPr>
              <a:defRPr/>
            </a:pPr>
            <a:fld id="{4FC25D07-3AC5-455A-978F-61BF11F85F6E}" type="slidenum">
              <a:rPr lang="en-US" altLang="en-US"/>
              <a:pPr>
                <a:defRPr/>
              </a:pPr>
              <a:t>‹#›</a:t>
            </a:fld>
            <a:endParaRPr lang="en-US" altLang="en-US"/>
          </a:p>
        </p:txBody>
      </p:sp>
    </p:spTree>
    <p:extLst>
      <p:ext uri="{BB962C8B-B14F-4D97-AF65-F5344CB8AC3E}">
        <p14:creationId xmlns:p14="http://schemas.microsoft.com/office/powerpoint/2010/main" val="1608310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C57D0C4-8DCD-1A74-9A4A-72E0EFAE657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03FA6C3-4B0C-8033-6797-91AF877E88BD}"/>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7" name="Rectangle 6">
            <a:extLst>
              <a:ext uri="{FF2B5EF4-FFF2-40B4-BE49-F238E27FC236}">
                <a16:creationId xmlns:a16="http://schemas.microsoft.com/office/drawing/2014/main" id="{7C810B3A-DDBC-FF13-143B-8FE806F2F73A}"/>
              </a:ext>
            </a:extLst>
          </p:cNvPr>
          <p:cNvSpPr>
            <a:spLocks noGrp="1" noChangeArrowheads="1"/>
          </p:cNvSpPr>
          <p:nvPr>
            <p:ph type="sldNum" sz="quarter" idx="12"/>
          </p:nvPr>
        </p:nvSpPr>
        <p:spPr>
          <a:ln/>
        </p:spPr>
        <p:txBody>
          <a:bodyPr/>
          <a:lstStyle>
            <a:lvl1pPr>
              <a:defRPr/>
            </a:lvl1pPr>
          </a:lstStyle>
          <a:p>
            <a:pPr>
              <a:defRPr/>
            </a:pPr>
            <a:fld id="{1D981B64-87BC-49D2-94D8-8300BC62A130}" type="slidenum">
              <a:rPr lang="en-US" altLang="en-US"/>
              <a:pPr>
                <a:defRPr/>
              </a:pPr>
              <a:t>‹#›</a:t>
            </a:fld>
            <a:endParaRPr lang="en-US" altLang="en-US"/>
          </a:p>
        </p:txBody>
      </p:sp>
    </p:spTree>
    <p:extLst>
      <p:ext uri="{BB962C8B-B14F-4D97-AF65-F5344CB8AC3E}">
        <p14:creationId xmlns:p14="http://schemas.microsoft.com/office/powerpoint/2010/main" val="2374453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1C7A21A-3500-8D29-05BA-9FF5DC538F8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C4208E8-651E-3D26-107A-38E1E5601875}"/>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9B1E00D1-A98B-D245-55D3-94E1A0194228}"/>
              </a:ext>
            </a:extLst>
          </p:cNvPr>
          <p:cNvSpPr>
            <a:spLocks noGrp="1" noChangeArrowheads="1"/>
          </p:cNvSpPr>
          <p:nvPr>
            <p:ph type="sldNum" sz="quarter" idx="12"/>
          </p:nvPr>
        </p:nvSpPr>
        <p:spPr>
          <a:ln/>
        </p:spPr>
        <p:txBody>
          <a:bodyPr/>
          <a:lstStyle>
            <a:lvl1pPr>
              <a:defRPr/>
            </a:lvl1pPr>
          </a:lstStyle>
          <a:p>
            <a:pPr>
              <a:defRPr/>
            </a:pPr>
            <a:fld id="{713E474E-69EE-471E-B3FD-41DDC6825640}" type="slidenum">
              <a:rPr lang="en-US" altLang="en-US"/>
              <a:pPr>
                <a:defRPr/>
              </a:pPr>
              <a:t>‹#›</a:t>
            </a:fld>
            <a:endParaRPr lang="en-US" altLang="en-US"/>
          </a:p>
        </p:txBody>
      </p:sp>
    </p:spTree>
    <p:extLst>
      <p:ext uri="{BB962C8B-B14F-4D97-AF65-F5344CB8AC3E}">
        <p14:creationId xmlns:p14="http://schemas.microsoft.com/office/powerpoint/2010/main" val="2205468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6"/>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6"/>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242AA6C-085A-BB27-EC33-A1F4C783442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8B9FF8F-DC54-E846-B48B-12A0BBFF07CA}"/>
              </a:ext>
            </a:extLst>
          </p:cNvPr>
          <p:cNvSpPr>
            <a:spLocks noGrp="1" noChangeArrowheads="1"/>
          </p:cNvSpPr>
          <p:nvPr>
            <p:ph type="ftr" sz="quarter" idx="11"/>
          </p:nvPr>
        </p:nvSpPr>
        <p:spPr>
          <a:ln/>
        </p:spPr>
        <p:txBody>
          <a:bodyPr/>
          <a:lstStyle>
            <a:lvl1pPr>
              <a:defRPr/>
            </a:lvl1pPr>
          </a:lstStyle>
          <a:p>
            <a:pPr>
              <a:defRPr/>
            </a:pPr>
            <a:r>
              <a:rPr lang="en-US"/>
              <a:t>Discrete Structures</a:t>
            </a:r>
          </a:p>
        </p:txBody>
      </p:sp>
      <p:sp>
        <p:nvSpPr>
          <p:cNvPr id="6" name="Rectangle 6">
            <a:extLst>
              <a:ext uri="{FF2B5EF4-FFF2-40B4-BE49-F238E27FC236}">
                <a16:creationId xmlns:a16="http://schemas.microsoft.com/office/drawing/2014/main" id="{24FDDC71-73F8-509F-DEBB-AE3293D262BB}"/>
              </a:ext>
            </a:extLst>
          </p:cNvPr>
          <p:cNvSpPr>
            <a:spLocks noGrp="1" noChangeArrowheads="1"/>
          </p:cNvSpPr>
          <p:nvPr>
            <p:ph type="sldNum" sz="quarter" idx="12"/>
          </p:nvPr>
        </p:nvSpPr>
        <p:spPr>
          <a:ln/>
        </p:spPr>
        <p:txBody>
          <a:bodyPr/>
          <a:lstStyle>
            <a:lvl1pPr>
              <a:defRPr/>
            </a:lvl1pPr>
          </a:lstStyle>
          <a:p>
            <a:pPr>
              <a:defRPr/>
            </a:pPr>
            <a:fld id="{64D05826-A546-4DB4-AAF7-A080CA87C373}" type="slidenum">
              <a:rPr lang="en-US" altLang="en-US"/>
              <a:pPr>
                <a:defRPr/>
              </a:pPr>
              <a:t>‹#›</a:t>
            </a:fld>
            <a:endParaRPr lang="en-US" altLang="en-US"/>
          </a:p>
        </p:txBody>
      </p:sp>
    </p:spTree>
    <p:extLst>
      <p:ext uri="{BB962C8B-B14F-4D97-AF65-F5344CB8AC3E}">
        <p14:creationId xmlns:p14="http://schemas.microsoft.com/office/powerpoint/2010/main" val="2209768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A1E1F46-B9F5-CA80-4F31-316155FC12AD}"/>
              </a:ext>
            </a:extLst>
          </p:cNvPr>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0431BE-6637-6553-34CD-5BD1AEA4BD6E}"/>
              </a:ext>
            </a:extLst>
          </p:cNvPr>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9092" name="Rectangle 4">
            <a:extLst>
              <a:ext uri="{FF2B5EF4-FFF2-40B4-BE49-F238E27FC236}">
                <a16:creationId xmlns:a16="http://schemas.microsoft.com/office/drawing/2014/main" id="{C741B13E-EAAA-4E6B-2562-21611916A31D}"/>
              </a:ext>
            </a:extLst>
          </p:cNvPr>
          <p:cNvSpPr>
            <a:spLocks noGrp="1" noChangeArrowheads="1"/>
          </p:cNvSpPr>
          <p:nvPr>
            <p:ph type="dt" sz="half" idx="2"/>
          </p:nvPr>
        </p:nvSpPr>
        <p:spPr bwMode="auto">
          <a:xfrm>
            <a:off x="457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cs typeface="Arial" charset="0"/>
              </a:defRPr>
            </a:lvl1pPr>
          </a:lstStyle>
          <a:p>
            <a:pPr>
              <a:defRPr/>
            </a:pPr>
            <a:endParaRPr lang="en-US"/>
          </a:p>
        </p:txBody>
      </p:sp>
      <p:sp>
        <p:nvSpPr>
          <p:cNvPr id="89093" name="Rectangle 5">
            <a:extLst>
              <a:ext uri="{FF2B5EF4-FFF2-40B4-BE49-F238E27FC236}">
                <a16:creationId xmlns:a16="http://schemas.microsoft.com/office/drawing/2014/main" id="{D0776AFC-60B9-20C5-F36F-077F7762C6B2}"/>
              </a:ext>
            </a:extLst>
          </p:cNvPr>
          <p:cNvSpPr>
            <a:spLocks noGrp="1" noChangeArrowheads="1"/>
          </p:cNvSpPr>
          <p:nvPr>
            <p:ph type="ftr" sz="quarter" idx="3"/>
          </p:nvPr>
        </p:nvSpPr>
        <p:spPr bwMode="auto">
          <a:xfrm>
            <a:off x="3124200" y="5203825"/>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a:defRPr/>
            </a:pPr>
            <a:r>
              <a:rPr lang="en-US"/>
              <a:t>Discrete Structures</a:t>
            </a:r>
          </a:p>
        </p:txBody>
      </p:sp>
      <p:sp>
        <p:nvSpPr>
          <p:cNvPr id="89094" name="Rectangle 6">
            <a:extLst>
              <a:ext uri="{FF2B5EF4-FFF2-40B4-BE49-F238E27FC236}">
                <a16:creationId xmlns:a16="http://schemas.microsoft.com/office/drawing/2014/main" id="{7F52287C-1A16-73E7-4C18-19B684E1B32D}"/>
              </a:ext>
            </a:extLst>
          </p:cNvPr>
          <p:cNvSpPr>
            <a:spLocks noGrp="1" noChangeArrowheads="1"/>
          </p:cNvSpPr>
          <p:nvPr>
            <p:ph type="sldNum" sz="quarter" idx="4"/>
          </p:nvPr>
        </p:nvSpPr>
        <p:spPr bwMode="auto">
          <a:xfrm>
            <a:off x="6553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34DF586D-E9A1-48F5-8718-686F127EDB7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2">
            <a:extLst>
              <a:ext uri="{FF2B5EF4-FFF2-40B4-BE49-F238E27FC236}">
                <a16:creationId xmlns:a16="http://schemas.microsoft.com/office/drawing/2014/main" id="{345C976A-AB47-5A7E-166F-9C18D5E2189A}"/>
              </a:ext>
            </a:extLst>
          </p:cNvPr>
          <p:cNvSpPr txBox="1">
            <a:spLocks noChangeArrowheads="1"/>
          </p:cNvSpPr>
          <p:nvPr/>
        </p:nvSpPr>
        <p:spPr bwMode="auto">
          <a:xfrm>
            <a:off x="6553200" y="56737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r" eaLnBrk="1" hangingPunct="1">
              <a:spcBef>
                <a:spcPct val="0"/>
              </a:spcBef>
              <a:buFontTx/>
              <a:buNone/>
            </a:pPr>
            <a:fld id="{9509F0B9-D702-4432-B202-14DFAB704363}" type="slidenum">
              <a:rPr lang="en-US" altLang="en-US" sz="1400"/>
              <a:pPr algn="r" eaLnBrk="1" hangingPunct="1">
                <a:spcBef>
                  <a:spcPct val="0"/>
                </a:spcBef>
                <a:buFontTx/>
                <a:buNone/>
              </a:pPr>
              <a:t>1</a:t>
            </a:fld>
            <a:endParaRPr lang="en-US" altLang="en-US" sz="1400"/>
          </a:p>
        </p:txBody>
      </p:sp>
      <p:sp>
        <p:nvSpPr>
          <p:cNvPr id="19" name="Rectangle 3">
            <a:extLst>
              <a:ext uri="{FF2B5EF4-FFF2-40B4-BE49-F238E27FC236}">
                <a16:creationId xmlns:a16="http://schemas.microsoft.com/office/drawing/2014/main" id="{AACE97D8-7933-EEA8-05B1-BBFCFD106B37}"/>
              </a:ext>
            </a:extLst>
          </p:cNvPr>
          <p:cNvSpPr txBox="1">
            <a:spLocks noChangeArrowheads="1"/>
          </p:cNvSpPr>
          <p:nvPr/>
        </p:nvSpPr>
        <p:spPr bwMode="auto">
          <a:xfrm>
            <a:off x="684213" y="1106488"/>
            <a:ext cx="7848600" cy="2111375"/>
          </a:xfrm>
          <a:prstGeom prst="rect">
            <a:avLst/>
          </a:prstGeom>
          <a:noFill/>
          <a:ln w="9525">
            <a:noFill/>
            <a:miter lim="800000"/>
            <a:headEnd/>
            <a:tailEnd/>
          </a:ln>
        </p:spPr>
        <p:txBody>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cs typeface="+mn-cs"/>
              </a:defRPr>
            </a:lvl2pPr>
            <a:lvl3pPr marL="914400" indent="0" algn="ctr" rtl="0" eaLnBrk="0" fontAlgn="base" hangingPunct="0">
              <a:spcBef>
                <a:spcPct val="20000"/>
              </a:spcBef>
              <a:spcAft>
                <a:spcPct val="0"/>
              </a:spcAft>
              <a:buNone/>
              <a:defRPr sz="2400">
                <a:solidFill>
                  <a:schemeClr val="tx1"/>
                </a:solidFill>
                <a:latin typeface="+mn-lt"/>
                <a:cs typeface="+mn-cs"/>
              </a:defRPr>
            </a:lvl3pPr>
            <a:lvl4pPr marL="1371600" indent="0" algn="ctr" rtl="0" eaLnBrk="0" fontAlgn="base" hangingPunct="0">
              <a:spcBef>
                <a:spcPct val="20000"/>
              </a:spcBef>
              <a:spcAft>
                <a:spcPct val="0"/>
              </a:spcAft>
              <a:buNone/>
              <a:defRPr sz="2000">
                <a:solidFill>
                  <a:schemeClr val="tx1"/>
                </a:solidFill>
                <a:latin typeface="+mn-lt"/>
                <a:cs typeface="+mn-cs"/>
              </a:defRPr>
            </a:lvl4pPr>
            <a:lvl5pPr marL="1828800" indent="0" algn="ctr" rtl="0" eaLnBrk="0" fontAlgn="base" hangingPunct="0">
              <a:spcBef>
                <a:spcPct val="20000"/>
              </a:spcBef>
              <a:spcAft>
                <a:spcPct val="0"/>
              </a:spcAft>
              <a:buNone/>
              <a:defRPr sz="2000">
                <a:solidFill>
                  <a:schemeClr val="tx1"/>
                </a:solidFill>
                <a:latin typeface="+mn-lt"/>
                <a:cs typeface="+mn-cs"/>
              </a:defRPr>
            </a:lvl5pPr>
            <a:lvl6pPr marL="2286000" indent="0" algn="ctr" rtl="0" fontAlgn="base">
              <a:spcBef>
                <a:spcPct val="20000"/>
              </a:spcBef>
              <a:spcAft>
                <a:spcPct val="0"/>
              </a:spcAft>
              <a:buNone/>
              <a:defRPr sz="2000">
                <a:solidFill>
                  <a:schemeClr val="tx1"/>
                </a:solidFill>
                <a:latin typeface="+mn-lt"/>
                <a:cs typeface="+mn-cs"/>
              </a:defRPr>
            </a:lvl6pPr>
            <a:lvl7pPr marL="2743200" indent="0" algn="ctr" rtl="0" fontAlgn="base">
              <a:spcBef>
                <a:spcPct val="20000"/>
              </a:spcBef>
              <a:spcAft>
                <a:spcPct val="0"/>
              </a:spcAft>
              <a:buNone/>
              <a:defRPr sz="2000">
                <a:solidFill>
                  <a:schemeClr val="tx1"/>
                </a:solidFill>
                <a:latin typeface="+mn-lt"/>
                <a:cs typeface="+mn-cs"/>
              </a:defRPr>
            </a:lvl7pPr>
            <a:lvl8pPr marL="3200400" indent="0" algn="ctr" rtl="0" fontAlgn="base">
              <a:spcBef>
                <a:spcPct val="20000"/>
              </a:spcBef>
              <a:spcAft>
                <a:spcPct val="0"/>
              </a:spcAft>
              <a:buNone/>
              <a:defRPr sz="2000">
                <a:solidFill>
                  <a:schemeClr val="tx1"/>
                </a:solidFill>
                <a:latin typeface="+mn-lt"/>
                <a:cs typeface="+mn-cs"/>
              </a:defRPr>
            </a:lvl8pPr>
            <a:lvl9pPr marL="3657600" indent="0" algn="ctr" rtl="0" fontAlgn="base">
              <a:spcBef>
                <a:spcPct val="20000"/>
              </a:spcBef>
              <a:spcAft>
                <a:spcPct val="0"/>
              </a:spcAft>
              <a:buNone/>
              <a:defRPr sz="2000">
                <a:solidFill>
                  <a:schemeClr val="tx1"/>
                </a:solidFill>
                <a:latin typeface="+mn-lt"/>
                <a:cs typeface="+mn-cs"/>
              </a:defRPr>
            </a:lvl9pPr>
          </a:lstStyle>
          <a:p>
            <a:pPr eaLnBrk="1" hangingPunct="1">
              <a:defRPr/>
            </a:pPr>
            <a:endParaRPr lang="en-US" altLang="x-none" sz="2400" kern="0" dirty="0">
              <a:solidFill>
                <a:srgbClr val="008000"/>
              </a:solidFill>
            </a:endParaRPr>
          </a:p>
          <a:p>
            <a:pPr eaLnBrk="1" hangingPunct="1">
              <a:defRPr/>
            </a:pPr>
            <a:endParaRPr lang="en-US" altLang="x-none" sz="4800" kern="0" dirty="0">
              <a:solidFill>
                <a:srgbClr val="008000"/>
              </a:solidFill>
            </a:endParaRPr>
          </a:p>
          <a:p>
            <a:pPr eaLnBrk="1" hangingPunct="1">
              <a:defRPr/>
            </a:pPr>
            <a:endParaRPr lang="en-US" altLang="x-none" sz="2400" kern="0" dirty="0">
              <a:solidFill>
                <a:srgbClr val="008000"/>
              </a:solidFill>
            </a:endParaRPr>
          </a:p>
          <a:p>
            <a:pPr eaLnBrk="1" hangingPunct="1">
              <a:defRPr/>
            </a:pPr>
            <a:endParaRPr lang="en-US" altLang="x-none" sz="2400" kern="0" dirty="0">
              <a:solidFill>
                <a:srgbClr val="008000"/>
              </a:solidFill>
            </a:endParaRPr>
          </a:p>
          <a:p>
            <a:pPr eaLnBrk="1" hangingPunct="1">
              <a:defRPr/>
            </a:pPr>
            <a:endParaRPr lang="en-US" altLang="x-none" sz="2400" kern="0" dirty="0">
              <a:solidFill>
                <a:srgbClr val="008000"/>
              </a:solidFill>
            </a:endParaRPr>
          </a:p>
        </p:txBody>
      </p:sp>
      <p:sp>
        <p:nvSpPr>
          <p:cNvPr id="3076" name="Text Box 18">
            <a:extLst>
              <a:ext uri="{FF2B5EF4-FFF2-40B4-BE49-F238E27FC236}">
                <a16:creationId xmlns:a16="http://schemas.microsoft.com/office/drawing/2014/main" id="{2DD02FF4-1008-FA5D-0C8C-0AEDDA04E751}"/>
              </a:ext>
            </a:extLst>
          </p:cNvPr>
          <p:cNvSpPr txBox="1">
            <a:spLocks noChangeArrowheads="1"/>
          </p:cNvSpPr>
          <p:nvPr/>
        </p:nvSpPr>
        <p:spPr bwMode="auto">
          <a:xfrm>
            <a:off x="1149350" y="1624013"/>
            <a:ext cx="777875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3600"/>
              <a:t>Expository Writing</a:t>
            </a:r>
          </a:p>
          <a:p>
            <a:pPr eaLnBrk="1" hangingPunct="1">
              <a:spcBef>
                <a:spcPct val="50000"/>
              </a:spcBef>
              <a:buFontTx/>
              <a:buNone/>
            </a:pPr>
            <a:r>
              <a:rPr lang="en-US" altLang="en-US" sz="2800"/>
              <a:t>ENGL-101</a:t>
            </a:r>
            <a:endParaRPr lang="en-US" altLang="en-US" sz="4000"/>
          </a:p>
        </p:txBody>
      </p:sp>
      <p:sp>
        <p:nvSpPr>
          <p:cNvPr id="3077" name="Line 23">
            <a:extLst>
              <a:ext uri="{FF2B5EF4-FFF2-40B4-BE49-F238E27FC236}">
                <a16:creationId xmlns:a16="http://schemas.microsoft.com/office/drawing/2014/main" id="{D70172E2-B266-C6CD-EF3B-76AE4178A17A}"/>
              </a:ext>
            </a:extLst>
          </p:cNvPr>
          <p:cNvSpPr>
            <a:spLocks noChangeShapeType="1"/>
          </p:cNvSpPr>
          <p:nvPr/>
        </p:nvSpPr>
        <p:spPr bwMode="auto">
          <a:xfrm>
            <a:off x="908050" y="1562100"/>
            <a:ext cx="0" cy="1008063"/>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8" name="Line 22">
            <a:extLst>
              <a:ext uri="{FF2B5EF4-FFF2-40B4-BE49-F238E27FC236}">
                <a16:creationId xmlns:a16="http://schemas.microsoft.com/office/drawing/2014/main" id="{724DBBE1-530B-BE1F-D3EE-4C205C2D32D2}"/>
              </a:ext>
            </a:extLst>
          </p:cNvPr>
          <p:cNvSpPr>
            <a:spLocks noChangeShapeType="1"/>
          </p:cNvSpPr>
          <p:nvPr/>
        </p:nvSpPr>
        <p:spPr bwMode="auto">
          <a:xfrm>
            <a:off x="395288" y="2209800"/>
            <a:ext cx="8137525" cy="0"/>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2" name="Table 1">
            <a:extLst>
              <a:ext uri="{FF2B5EF4-FFF2-40B4-BE49-F238E27FC236}">
                <a16:creationId xmlns:a16="http://schemas.microsoft.com/office/drawing/2014/main" id="{9C82326E-7816-2208-4C2D-5EED43446908}"/>
              </a:ext>
            </a:extLst>
          </p:cNvPr>
          <p:cNvGraphicFramePr>
            <a:graphicFrameLocks noGrp="1"/>
          </p:cNvGraphicFramePr>
          <p:nvPr/>
        </p:nvGraphicFramePr>
        <p:xfrm>
          <a:off x="1116013" y="369888"/>
          <a:ext cx="6535737" cy="831850"/>
        </p:xfrm>
        <a:graphic>
          <a:graphicData uri="http://schemas.openxmlformats.org/drawingml/2006/table">
            <a:tbl>
              <a:tblPr firstRow="1" firstCol="1" bandRow="1">
                <a:tableStyleId>{5C22544A-7EE6-4342-B048-85BDC9FD1C3A}</a:tableStyleId>
              </a:tblPr>
              <a:tblGrid>
                <a:gridCol w="831749">
                  <a:extLst>
                    <a:ext uri="{9D8B030D-6E8A-4147-A177-3AD203B41FA5}">
                      <a16:colId xmlns:a16="http://schemas.microsoft.com/office/drawing/2014/main" val="20000"/>
                    </a:ext>
                  </a:extLst>
                </a:gridCol>
                <a:gridCol w="5703988">
                  <a:extLst>
                    <a:ext uri="{9D8B030D-6E8A-4147-A177-3AD203B41FA5}">
                      <a16:colId xmlns:a16="http://schemas.microsoft.com/office/drawing/2014/main" val="20001"/>
                    </a:ext>
                  </a:extLst>
                </a:gridCol>
              </a:tblGrid>
              <a:tr h="831850">
                <a:tc>
                  <a:txBody>
                    <a:bodyPr/>
                    <a:lstStyle/>
                    <a:p>
                      <a:pPr marL="0" marR="0">
                        <a:spcBef>
                          <a:spcPts val="0"/>
                        </a:spcBef>
                        <a:spcAft>
                          <a:spcPts val="0"/>
                        </a:spcAft>
                        <a:tabLst>
                          <a:tab pos="2971800" algn="ctr"/>
                          <a:tab pos="5943600" algn="r"/>
                        </a:tabLst>
                      </a:pPr>
                      <a:endParaRPr lang="en-US" sz="1000" dirty="0">
                        <a:effectLst/>
                        <a:latin typeface="Times New Roman"/>
                        <a:ea typeface="Times New Roman"/>
                        <a:cs typeface="Times New Roman"/>
                      </a:endParaRPr>
                    </a:p>
                  </a:txBody>
                  <a:tcPr marL="68572" marR="68572" marT="0" marB="0"/>
                </a:tc>
                <a:tc>
                  <a:txBody>
                    <a:bodyPr/>
                    <a:lstStyle/>
                    <a:p>
                      <a:pPr marL="0" marR="0">
                        <a:spcBef>
                          <a:spcPts val="0"/>
                        </a:spcBef>
                        <a:spcAft>
                          <a:spcPts val="0"/>
                        </a:spcAft>
                        <a:tabLst>
                          <a:tab pos="2971800" algn="ctr"/>
                          <a:tab pos="5943600" algn="r"/>
                        </a:tabLst>
                      </a:pPr>
                      <a:r>
                        <a:rPr lang="en-US" sz="1400" dirty="0">
                          <a:effectLst/>
                        </a:rPr>
                        <a:t>National University of Sciences &amp; Technology (NUST)</a:t>
                      </a:r>
                      <a:endParaRPr lang="en-US" sz="1100" dirty="0">
                        <a:effectLst/>
                      </a:endParaRPr>
                    </a:p>
                    <a:p>
                      <a:pPr marL="0" marR="0">
                        <a:spcBef>
                          <a:spcPts val="0"/>
                        </a:spcBef>
                        <a:spcAft>
                          <a:spcPts val="0"/>
                        </a:spcAft>
                        <a:tabLst>
                          <a:tab pos="2971800" algn="ctr"/>
                          <a:tab pos="5943600" algn="r"/>
                        </a:tabLst>
                      </a:pPr>
                      <a:r>
                        <a:rPr lang="en-US" sz="1400" dirty="0">
                          <a:effectLst/>
                        </a:rPr>
                        <a:t>School of Electrical Engineering and Computer Science (SEECS)</a:t>
                      </a:r>
                      <a:endParaRPr lang="en-US" sz="1100" dirty="0">
                        <a:effectLst/>
                      </a:endParaRPr>
                    </a:p>
                    <a:p>
                      <a:pPr marL="0" marR="0">
                        <a:spcBef>
                          <a:spcPts val="0"/>
                        </a:spcBef>
                        <a:spcAft>
                          <a:spcPts val="0"/>
                        </a:spcAft>
                        <a:tabLst>
                          <a:tab pos="2971800" algn="ctr"/>
                          <a:tab pos="5943600" algn="r"/>
                        </a:tabLst>
                      </a:pPr>
                      <a:r>
                        <a:rPr lang="en-US" sz="1400" dirty="0">
                          <a:effectLst/>
                        </a:rPr>
                        <a:t>Department of Humanities &amp; Sciences</a:t>
                      </a:r>
                      <a:endParaRPr lang="en-US" sz="1100" dirty="0">
                        <a:effectLst/>
                        <a:latin typeface="Calibri"/>
                        <a:ea typeface="Calibri"/>
                        <a:cs typeface="Times New Roman"/>
                      </a:endParaRPr>
                    </a:p>
                  </a:txBody>
                  <a:tcPr marL="68572" marR="68572" marT="0" marB="0" anchor="ctr"/>
                </a:tc>
                <a:extLst>
                  <a:ext uri="{0D108BD9-81ED-4DB2-BD59-A6C34878D82A}">
                    <a16:rowId xmlns:a16="http://schemas.microsoft.com/office/drawing/2014/main" val="10000"/>
                  </a:ext>
                </a:extLst>
              </a:tr>
            </a:tbl>
          </a:graphicData>
        </a:graphic>
      </p:graphicFrame>
      <p:pic>
        <p:nvPicPr>
          <p:cNvPr id="3087" name="Picture 1" descr="01">
            <a:extLst>
              <a:ext uri="{FF2B5EF4-FFF2-40B4-BE49-F238E27FC236}">
                <a16:creationId xmlns:a16="http://schemas.microsoft.com/office/drawing/2014/main" id="{2E40F347-976E-C712-2792-850E967979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369888"/>
            <a:ext cx="792162"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6" name="TextBox 4">
            <a:extLst>
              <a:ext uri="{FF2B5EF4-FFF2-40B4-BE49-F238E27FC236}">
                <a16:creationId xmlns:a16="http://schemas.microsoft.com/office/drawing/2014/main" id="{08875694-91D0-920E-CCD1-46E85E9F9AC6}"/>
              </a:ext>
            </a:extLst>
          </p:cNvPr>
          <p:cNvSpPr txBox="1">
            <a:spLocks noChangeArrowheads="1"/>
          </p:cNvSpPr>
          <p:nvPr/>
        </p:nvSpPr>
        <p:spPr bwMode="auto">
          <a:xfrm>
            <a:off x="908050" y="3865563"/>
            <a:ext cx="7119938" cy="1692275"/>
          </a:xfrm>
          <a:prstGeom prst="rect">
            <a:avLst/>
          </a:prstGeom>
          <a:noFill/>
          <a:ln>
            <a:noFill/>
          </a:ln>
        </p:spPr>
        <p:txBody>
          <a:bodyPr>
            <a:spAutoFit/>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defRPr/>
            </a:pPr>
            <a:endParaRPr lang="en-US" sz="2000" dirty="0">
              <a:solidFill>
                <a:schemeClr val="accent2">
                  <a:lumMod val="50000"/>
                </a:schemeClr>
              </a:solidFill>
            </a:endParaRPr>
          </a:p>
          <a:p>
            <a:pPr>
              <a:defRPr/>
            </a:pPr>
            <a:endParaRPr lang="en-US" sz="2800" u="sng" dirty="0">
              <a:solidFill>
                <a:schemeClr val="accent2">
                  <a:lumMod val="50000"/>
                </a:schemeClr>
              </a:solidFill>
            </a:endParaRPr>
          </a:p>
          <a:p>
            <a:pPr>
              <a:defRPr/>
            </a:pPr>
            <a:endParaRPr lang="en-US" sz="2800" u="sng" dirty="0">
              <a:solidFill>
                <a:schemeClr val="accent2">
                  <a:lumMod val="50000"/>
                </a:schemeClr>
              </a:solidFill>
            </a:endParaRPr>
          </a:p>
          <a:p>
            <a:pPr>
              <a:defRPr/>
            </a:pPr>
            <a:r>
              <a:rPr lang="en-US" sz="2800" u="sng" dirty="0">
                <a:solidFill>
                  <a:schemeClr val="accent2">
                    <a:lumMod val="50000"/>
                  </a:schemeClr>
                </a:solidFill>
              </a:rPr>
              <a:t>Course Instructor</a:t>
            </a:r>
            <a:r>
              <a:rPr lang="en-US" sz="2000" dirty="0">
                <a:solidFill>
                  <a:schemeClr val="accent2">
                    <a:lumMod val="50000"/>
                  </a:schemeClr>
                </a:solidFill>
              </a:rPr>
              <a:t>: </a:t>
            </a:r>
            <a:r>
              <a:rPr lang="en-US" sz="2800" dirty="0">
                <a:solidFill>
                  <a:schemeClr val="accent2">
                    <a:lumMod val="50000"/>
                  </a:schemeClr>
                </a:solidFill>
              </a:rPr>
              <a:t>Dr Samia Tahir</a:t>
            </a:r>
            <a:endParaRPr lang="en-US" sz="2000" dirty="0">
              <a:solidFill>
                <a:schemeClr val="accent2">
                  <a:lumMod val="50000"/>
                </a:schemeClr>
              </a:solidFill>
            </a:endParaRPr>
          </a:p>
        </p:txBody>
      </p:sp>
      <p:sp>
        <p:nvSpPr>
          <p:cNvPr id="3089" name="TextBox 2">
            <a:extLst>
              <a:ext uri="{FF2B5EF4-FFF2-40B4-BE49-F238E27FC236}">
                <a16:creationId xmlns:a16="http://schemas.microsoft.com/office/drawing/2014/main" id="{A4C09848-FE39-65FC-529B-C086CA745272}"/>
              </a:ext>
            </a:extLst>
          </p:cNvPr>
          <p:cNvSpPr txBox="1">
            <a:spLocks noChangeArrowheads="1"/>
          </p:cNvSpPr>
          <p:nvPr/>
        </p:nvSpPr>
        <p:spPr bwMode="auto">
          <a:xfrm>
            <a:off x="908050" y="3217863"/>
            <a:ext cx="241776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2800" u="sng">
                <a:solidFill>
                  <a:schemeClr val="accent2"/>
                </a:solidFill>
              </a:rPr>
              <a:t>Week 5: Lecture # 2</a:t>
            </a:r>
          </a:p>
        </p:txBody>
      </p:sp>
    </p:spTree>
  </p:cSld>
  <p:clrMapOvr>
    <a:masterClrMapping/>
  </p:clrMapOvr>
  <p:transition advTm="3106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6EE1C68B-8C92-80BA-6366-B391CBA7ADA8}"/>
              </a:ext>
            </a:extLst>
          </p:cNvPr>
          <p:cNvSpPr>
            <a:spLocks noGrp="1" noChangeArrowheads="1"/>
          </p:cNvSpPr>
          <p:nvPr>
            <p:ph type="title"/>
          </p:nvPr>
        </p:nvSpPr>
        <p:spPr/>
        <p:txBody>
          <a:bodyPr/>
          <a:lstStyle/>
          <a:p>
            <a:r>
              <a:rPr lang="en-US" altLang="en-US"/>
              <a:t>Today’s Lecture</a:t>
            </a:r>
          </a:p>
        </p:txBody>
      </p:sp>
      <p:sp>
        <p:nvSpPr>
          <p:cNvPr id="4099" name="Content Placeholder 2">
            <a:extLst>
              <a:ext uri="{FF2B5EF4-FFF2-40B4-BE49-F238E27FC236}">
                <a16:creationId xmlns:a16="http://schemas.microsoft.com/office/drawing/2014/main" id="{DFA9BE05-B1AF-7E37-8B34-2524392A6ACA}"/>
              </a:ext>
            </a:extLst>
          </p:cNvPr>
          <p:cNvSpPr>
            <a:spLocks noGrp="1" noChangeArrowheads="1"/>
          </p:cNvSpPr>
          <p:nvPr>
            <p:ph idx="1"/>
          </p:nvPr>
        </p:nvSpPr>
        <p:spPr>
          <a:xfrm>
            <a:off x="457200" y="1714500"/>
            <a:ext cx="8229600" cy="3390900"/>
          </a:xfrm>
        </p:spPr>
        <p:txBody>
          <a:bodyPr/>
          <a:lstStyle/>
          <a:p>
            <a:r>
              <a:rPr lang="en-US" altLang="en-US" sz="2800"/>
              <a:t>Communication in Expository Writing</a:t>
            </a:r>
          </a:p>
          <a:p>
            <a:r>
              <a:rPr lang="en-US" altLang="en-US" sz="2800"/>
              <a:t>The CMAPP communication model</a:t>
            </a:r>
          </a:p>
          <a:p>
            <a:r>
              <a:rPr lang="en-US" altLang="en-US" sz="2800"/>
              <a:t>CMAPP analysis checklist</a:t>
            </a:r>
          </a:p>
          <a:p>
            <a:r>
              <a:rPr lang="en-US" altLang="en-US" sz="2800"/>
              <a:t>CMAPP in action</a:t>
            </a:r>
          </a:p>
        </p:txBody>
      </p:sp>
      <p:pic>
        <p:nvPicPr>
          <p:cNvPr id="4100" name="Picture 2">
            <a:extLst>
              <a:ext uri="{FF2B5EF4-FFF2-40B4-BE49-F238E27FC236}">
                <a16:creationId xmlns:a16="http://schemas.microsoft.com/office/drawing/2014/main" id="{A2695A11-7F4D-E6F2-A7A2-C1075B1DD0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788" y="4000500"/>
            <a:ext cx="2363787"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AAE00EAE-5184-5184-ADF6-5B36A72FF936}"/>
              </a:ext>
            </a:extLst>
          </p:cNvPr>
          <p:cNvSpPr>
            <a:spLocks noGrp="1" noChangeArrowheads="1"/>
          </p:cNvSpPr>
          <p:nvPr>
            <p:ph idx="1"/>
          </p:nvPr>
        </p:nvSpPr>
        <p:spPr/>
        <p:txBody>
          <a:bodyPr/>
          <a:lstStyle/>
          <a:p>
            <a:pPr marL="0" indent="0" algn="ctr">
              <a:buFontTx/>
              <a:buNone/>
            </a:pPr>
            <a:r>
              <a:rPr lang="en-US" altLang="en-US" b="1"/>
              <a:t>Communication in Expository Writing</a:t>
            </a:r>
            <a:r>
              <a:rPr lang="en-US" altLang="en-US"/>
              <a:t> refers to the deliberate, structured transmission of information, ideas, or explanations from a writer to a reader with the primary objective of clarity, accuracy, and comprehension.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9B71DC3E-D2FC-1E1E-5DF2-4B10FE77CC3E}"/>
              </a:ext>
            </a:extLst>
          </p:cNvPr>
          <p:cNvSpPr>
            <a:spLocks noGrp="1" noChangeArrowheads="1"/>
          </p:cNvSpPr>
          <p:nvPr>
            <p:ph type="title"/>
          </p:nvPr>
        </p:nvSpPr>
        <p:spPr/>
        <p:txBody>
          <a:bodyPr/>
          <a:lstStyle/>
          <a:p>
            <a:r>
              <a:rPr lang="en-US" altLang="en-US"/>
              <a:t>CMAPP Model</a:t>
            </a:r>
          </a:p>
        </p:txBody>
      </p:sp>
      <p:sp>
        <p:nvSpPr>
          <p:cNvPr id="3" name="Content Placeholder 2">
            <a:extLst>
              <a:ext uri="{FF2B5EF4-FFF2-40B4-BE49-F238E27FC236}">
                <a16:creationId xmlns:a16="http://schemas.microsoft.com/office/drawing/2014/main" id="{86FB9FE7-148E-5FCB-CFE3-2488D3409238}"/>
              </a:ext>
            </a:extLst>
          </p:cNvPr>
          <p:cNvSpPr>
            <a:spLocks noGrp="1"/>
          </p:cNvSpPr>
          <p:nvPr>
            <p:ph idx="1"/>
          </p:nvPr>
        </p:nvSpPr>
        <p:spPr>
          <a:xfrm>
            <a:off x="0" y="1057275"/>
            <a:ext cx="9144000" cy="4657725"/>
          </a:xfrm>
        </p:spPr>
        <p:txBody>
          <a:bodyPr/>
          <a:lstStyle/>
          <a:p>
            <a:pPr marL="0" indent="0">
              <a:buFontTx/>
              <a:buNone/>
              <a:defRPr/>
            </a:pPr>
            <a:r>
              <a:rPr lang="en-US" sz="1800" dirty="0"/>
              <a:t>This model is designed specifically for technical communication. The CMAPP approach incorporates the following ideas:</a:t>
            </a:r>
          </a:p>
          <a:p>
            <a:pPr>
              <a:defRPr/>
            </a:pPr>
            <a:r>
              <a:rPr lang="en-US" sz="1800" dirty="0"/>
              <a:t>Situations (the </a:t>
            </a:r>
            <a:r>
              <a:rPr lang="en-US" sz="1800" b="1" dirty="0"/>
              <a:t>context</a:t>
            </a:r>
            <a:r>
              <a:rPr lang="en-US" sz="1800" dirty="0"/>
              <a:t>) in which people find themselves in need of a communication.</a:t>
            </a:r>
          </a:p>
          <a:p>
            <a:pPr>
              <a:defRPr/>
            </a:pPr>
            <a:r>
              <a:rPr lang="en-US" sz="1800" dirty="0"/>
              <a:t>What people say (the </a:t>
            </a:r>
            <a:r>
              <a:rPr lang="en-US" sz="1800" b="1" dirty="0"/>
              <a:t>message</a:t>
            </a:r>
            <a:r>
              <a:rPr lang="en-US" sz="1800" dirty="0"/>
              <a:t>) is affected by the person or group with whom they are communicating (the </a:t>
            </a:r>
            <a:r>
              <a:rPr lang="en-US" sz="1800" b="1" dirty="0"/>
              <a:t>audience</a:t>
            </a:r>
            <a:r>
              <a:rPr lang="en-US" sz="1800" dirty="0"/>
              <a:t>).</a:t>
            </a:r>
          </a:p>
          <a:p>
            <a:pPr>
              <a:defRPr/>
            </a:pPr>
            <a:r>
              <a:rPr lang="en-US" sz="1800" dirty="0"/>
              <a:t>What people communicate is affected by their reason for communicating and their expectations (the </a:t>
            </a:r>
            <a:r>
              <a:rPr lang="en-US" sz="1800" b="1" dirty="0"/>
              <a:t>purpose</a:t>
            </a:r>
            <a:r>
              <a:rPr lang="en-US" sz="1800" dirty="0"/>
              <a:t>).</a:t>
            </a:r>
          </a:p>
          <a:p>
            <a:pPr>
              <a:defRPr/>
            </a:pPr>
            <a:r>
              <a:rPr lang="en-US" sz="1800" dirty="0"/>
              <a:t>The physical form of the communication (the </a:t>
            </a:r>
            <a:r>
              <a:rPr lang="en-US" sz="1800" b="1" dirty="0"/>
              <a:t>product</a:t>
            </a:r>
            <a:r>
              <a:rPr lang="en-US" sz="1800" dirty="0"/>
              <a:t>) affects the way in which the communication is formulated and received.</a:t>
            </a:r>
          </a:p>
          <a:p>
            <a:pPr>
              <a:defRPr/>
            </a:pPr>
            <a:r>
              <a:rPr lang="en-US" sz="1800" dirty="0"/>
              <a:t>All these ideas affect each other all the time.</a:t>
            </a:r>
          </a:p>
          <a:p>
            <a:pPr>
              <a:defRPr/>
            </a:pPr>
            <a:r>
              <a:rPr lang="en-US" sz="1800" dirty="0"/>
              <a:t>The first step in creating effective technical communication is conducting a CMAPP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F27B781-ACE1-C40B-189A-BE5EDF8DB432}"/>
              </a:ext>
            </a:extLst>
          </p:cNvPr>
          <p:cNvSpPr>
            <a:spLocks noGrp="1" noRot="1" noChangeArrowheads="1"/>
          </p:cNvSpPr>
          <p:nvPr>
            <p:ph type="title"/>
          </p:nvPr>
        </p:nvSpPr>
        <p:spPr>
          <a:xfrm>
            <a:off x="304800" y="0"/>
            <a:ext cx="8229600" cy="876300"/>
          </a:xfrm>
        </p:spPr>
        <p:txBody>
          <a:bodyPr/>
          <a:lstStyle/>
          <a:p>
            <a:pPr eaLnBrk="1" hangingPunct="1"/>
            <a:r>
              <a:rPr lang="en-US" altLang="en-US" sz="4000" b="1"/>
              <a:t>CMAPP Communication Model</a:t>
            </a:r>
          </a:p>
        </p:txBody>
      </p:sp>
      <p:sp>
        <p:nvSpPr>
          <p:cNvPr id="97286" name="Text Box 6">
            <a:extLst>
              <a:ext uri="{FF2B5EF4-FFF2-40B4-BE49-F238E27FC236}">
                <a16:creationId xmlns:a16="http://schemas.microsoft.com/office/drawing/2014/main" id="{2BFEDAE4-A594-D035-ED3E-2CA20A612EDB}"/>
              </a:ext>
            </a:extLst>
          </p:cNvPr>
          <p:cNvSpPr txBox="1">
            <a:spLocks noChangeArrowheads="1"/>
          </p:cNvSpPr>
          <p:nvPr/>
        </p:nvSpPr>
        <p:spPr bwMode="auto">
          <a:xfrm>
            <a:off x="4648200" y="3162300"/>
            <a:ext cx="4191000" cy="1477963"/>
          </a:xfrm>
          <a:prstGeom prst="rect">
            <a:avLst/>
          </a:prstGeom>
          <a:solidFill>
            <a:schemeClr val="bg1"/>
          </a:solidFill>
          <a:ln>
            <a:noFill/>
          </a:ln>
          <a:effectLst/>
        </p:spPr>
        <p:txBody>
          <a:bodyPr>
            <a:spAutoFit/>
          </a:bodyPr>
          <a:lstStyle/>
          <a:p>
            <a:pPr eaLnBrk="1" hangingPunct="1">
              <a:spcBef>
                <a:spcPct val="50000"/>
              </a:spcBef>
              <a:defRPr/>
            </a:pPr>
            <a:r>
              <a:rPr lang="en-US" sz="2000" b="1" dirty="0">
                <a:cs typeface="+mn-cs"/>
              </a:rPr>
              <a:t>The </a:t>
            </a:r>
            <a:r>
              <a:rPr lang="en-US" sz="2000" b="1" dirty="0">
                <a:solidFill>
                  <a:srgbClr val="CF543F"/>
                </a:solidFill>
                <a:cs typeface="+mn-cs"/>
              </a:rPr>
              <a:t>product</a:t>
            </a:r>
            <a:r>
              <a:rPr lang="en-US" sz="2000" b="1" dirty="0">
                <a:solidFill>
                  <a:srgbClr val="7F7F7F"/>
                </a:solidFill>
                <a:cs typeface="+mn-cs"/>
              </a:rPr>
              <a:t> </a:t>
            </a:r>
            <a:r>
              <a:rPr lang="en-US" sz="2000" b="1" dirty="0">
                <a:cs typeface="+mn-cs"/>
              </a:rPr>
              <a:t>refers to the technical document. </a:t>
            </a:r>
          </a:p>
          <a:p>
            <a:pPr eaLnBrk="1" hangingPunct="1">
              <a:spcBef>
                <a:spcPct val="50000"/>
              </a:spcBef>
              <a:defRPr/>
            </a:pPr>
            <a:r>
              <a:rPr lang="en-US" sz="2000" b="1" dirty="0">
                <a:cs typeface="+mn-cs"/>
              </a:rPr>
              <a:t>Each element impacts and affects the others continuously.</a:t>
            </a:r>
          </a:p>
        </p:txBody>
      </p:sp>
      <p:sp>
        <p:nvSpPr>
          <p:cNvPr id="97288" name="Text Box 8">
            <a:extLst>
              <a:ext uri="{FF2B5EF4-FFF2-40B4-BE49-F238E27FC236}">
                <a16:creationId xmlns:a16="http://schemas.microsoft.com/office/drawing/2014/main" id="{07B3690A-F872-38DB-3E39-1D5F630D3414}"/>
              </a:ext>
            </a:extLst>
          </p:cNvPr>
          <p:cNvSpPr txBox="1">
            <a:spLocks noChangeArrowheads="1"/>
          </p:cNvSpPr>
          <p:nvPr/>
        </p:nvSpPr>
        <p:spPr bwMode="auto">
          <a:xfrm>
            <a:off x="347663" y="3162300"/>
            <a:ext cx="4038600" cy="1784350"/>
          </a:xfrm>
          <a:prstGeom prst="rect">
            <a:avLst/>
          </a:prstGeom>
          <a:solidFill>
            <a:schemeClr val="bg1"/>
          </a:solidFill>
          <a:ln>
            <a:noFill/>
          </a:ln>
          <a:effectLst/>
        </p:spPr>
        <p:txBody>
          <a:bodyPr>
            <a:spAutoFit/>
          </a:bodyPr>
          <a:lstStyle/>
          <a:p>
            <a:pPr eaLnBrk="1" hangingPunct="1">
              <a:spcBef>
                <a:spcPct val="50000"/>
              </a:spcBef>
              <a:defRPr/>
            </a:pPr>
            <a:r>
              <a:rPr lang="en-US" sz="2000" b="1" dirty="0">
                <a:cs typeface="+mn-cs"/>
              </a:rPr>
              <a:t>The </a:t>
            </a:r>
            <a:r>
              <a:rPr lang="en-US" sz="2000" b="1" dirty="0">
                <a:solidFill>
                  <a:srgbClr val="CF543F"/>
                </a:solidFill>
                <a:cs typeface="+mn-cs"/>
              </a:rPr>
              <a:t>message</a:t>
            </a:r>
            <a:r>
              <a:rPr lang="en-US" sz="2000" b="1" dirty="0">
                <a:solidFill>
                  <a:schemeClr val="tx1">
                    <a:lumMod val="50000"/>
                    <a:lumOff val="50000"/>
                  </a:schemeClr>
                </a:solidFill>
                <a:cs typeface="+mn-cs"/>
              </a:rPr>
              <a:t> </a:t>
            </a:r>
            <a:r>
              <a:rPr lang="en-US" sz="2000" b="1" dirty="0">
                <a:cs typeface="+mn-cs"/>
              </a:rPr>
              <a:t>affects the </a:t>
            </a:r>
            <a:r>
              <a:rPr lang="en-US" sz="2000" b="1" dirty="0">
                <a:solidFill>
                  <a:srgbClr val="CF543F"/>
                </a:solidFill>
                <a:cs typeface="+mn-cs"/>
              </a:rPr>
              <a:t>audience</a:t>
            </a:r>
            <a:r>
              <a:rPr lang="en-US" sz="2000" b="1" dirty="0">
                <a:solidFill>
                  <a:srgbClr val="7F7F7F"/>
                </a:solidFill>
                <a:cs typeface="+mn-cs"/>
              </a:rPr>
              <a:t> </a:t>
            </a:r>
            <a:r>
              <a:rPr lang="en-US" sz="2000" b="1" dirty="0">
                <a:cs typeface="+mn-cs"/>
              </a:rPr>
              <a:t>to which the communication is directed. </a:t>
            </a:r>
          </a:p>
          <a:p>
            <a:pPr eaLnBrk="1" hangingPunct="1">
              <a:spcBef>
                <a:spcPct val="50000"/>
              </a:spcBef>
              <a:defRPr/>
            </a:pPr>
            <a:r>
              <a:rPr lang="en-US" sz="2000" b="1" dirty="0">
                <a:cs typeface="+mn-cs"/>
              </a:rPr>
              <a:t>The </a:t>
            </a:r>
            <a:r>
              <a:rPr lang="en-US" sz="2000" b="1" dirty="0">
                <a:solidFill>
                  <a:srgbClr val="CF543F"/>
                </a:solidFill>
                <a:cs typeface="+mn-cs"/>
              </a:rPr>
              <a:t>purpose</a:t>
            </a:r>
            <a:r>
              <a:rPr lang="en-US" sz="2000" b="1" dirty="0">
                <a:solidFill>
                  <a:srgbClr val="7F7F7F"/>
                </a:solidFill>
                <a:cs typeface="+mn-cs"/>
              </a:rPr>
              <a:t> </a:t>
            </a:r>
            <a:r>
              <a:rPr lang="en-US" sz="2000" b="1" dirty="0">
                <a:cs typeface="+mn-cs"/>
              </a:rPr>
              <a:t>affects the intent of the </a:t>
            </a:r>
            <a:r>
              <a:rPr lang="en-US" sz="2000" b="1" dirty="0">
                <a:solidFill>
                  <a:srgbClr val="CF543F"/>
                </a:solidFill>
                <a:cs typeface="+mn-cs"/>
              </a:rPr>
              <a:t>message</a:t>
            </a:r>
            <a:r>
              <a:rPr lang="en-US" sz="2000" b="1" dirty="0">
                <a:cs typeface="+mn-cs"/>
              </a:rPr>
              <a:t>.</a:t>
            </a:r>
          </a:p>
        </p:txBody>
      </p:sp>
      <p:sp>
        <p:nvSpPr>
          <p:cNvPr id="10" name="Text Box 6">
            <a:extLst>
              <a:ext uri="{FF2B5EF4-FFF2-40B4-BE49-F238E27FC236}">
                <a16:creationId xmlns:a16="http://schemas.microsoft.com/office/drawing/2014/main" id="{D8294055-073D-6B06-1A8F-3078AEEEED43}"/>
              </a:ext>
            </a:extLst>
          </p:cNvPr>
          <p:cNvSpPr txBox="1">
            <a:spLocks noChangeArrowheads="1"/>
          </p:cNvSpPr>
          <p:nvPr/>
        </p:nvSpPr>
        <p:spPr bwMode="auto">
          <a:xfrm>
            <a:off x="1676400" y="952500"/>
            <a:ext cx="1268413" cy="400050"/>
          </a:xfrm>
          <a:prstGeom prst="rect">
            <a:avLst/>
          </a:prstGeom>
          <a:solidFill>
            <a:schemeClr val="accent1"/>
          </a:solidFill>
          <a:ln>
            <a:noFill/>
          </a:ln>
          <a:effectLst/>
        </p:spPr>
        <p:txBody>
          <a:bodyPr wrap="none">
            <a:spAutoFit/>
          </a:bodyPr>
          <a:lstStyle/>
          <a:p>
            <a:pPr eaLnBrk="1" hangingPunct="1">
              <a:defRPr/>
            </a:pPr>
            <a:r>
              <a:rPr lang="en-US" sz="2000" b="1" dirty="0">
                <a:cs typeface="+mn-cs"/>
              </a:rPr>
              <a:t>Message</a:t>
            </a:r>
          </a:p>
        </p:txBody>
      </p:sp>
      <p:sp>
        <p:nvSpPr>
          <p:cNvPr id="11" name="Line 7">
            <a:extLst>
              <a:ext uri="{FF2B5EF4-FFF2-40B4-BE49-F238E27FC236}">
                <a16:creationId xmlns:a16="http://schemas.microsoft.com/office/drawing/2014/main" id="{4A618E45-1DD2-D090-1EB5-6768CF60EC9D}"/>
              </a:ext>
            </a:extLst>
          </p:cNvPr>
          <p:cNvSpPr>
            <a:spLocks noChangeShapeType="1"/>
          </p:cNvSpPr>
          <p:nvPr/>
        </p:nvSpPr>
        <p:spPr bwMode="auto">
          <a:xfrm flipH="1" flipV="1">
            <a:off x="3505200" y="1104900"/>
            <a:ext cx="1905000" cy="0"/>
          </a:xfrm>
          <a:prstGeom prst="line">
            <a:avLst/>
          </a:prstGeom>
          <a:noFill/>
          <a:ln w="28575">
            <a:solidFill>
              <a:schemeClr val="tx1"/>
            </a:solidFill>
            <a:round/>
            <a:headEnd type="triangle" w="lg" len="lg"/>
            <a:tailEnd type="triangle" w="lg" len="lg"/>
          </a:ln>
          <a:effectLst/>
        </p:spPr>
        <p:txBody>
          <a:bodyPr wrap="none"/>
          <a:lstStyle/>
          <a:p>
            <a:pPr>
              <a:defRPr/>
            </a:pPr>
            <a:endParaRPr lang="en-US">
              <a:cs typeface="+mn-cs"/>
            </a:endParaRPr>
          </a:p>
        </p:txBody>
      </p:sp>
      <p:sp>
        <p:nvSpPr>
          <p:cNvPr id="12" name="Line 7">
            <a:extLst>
              <a:ext uri="{FF2B5EF4-FFF2-40B4-BE49-F238E27FC236}">
                <a16:creationId xmlns:a16="http://schemas.microsoft.com/office/drawing/2014/main" id="{C79E9996-DD0B-2EC8-2644-5AFFB51A5D63}"/>
              </a:ext>
            </a:extLst>
          </p:cNvPr>
          <p:cNvSpPr>
            <a:spLocks noChangeShapeType="1"/>
          </p:cNvSpPr>
          <p:nvPr/>
        </p:nvSpPr>
        <p:spPr bwMode="auto">
          <a:xfrm flipH="1">
            <a:off x="2286000" y="1562100"/>
            <a:ext cx="0" cy="533400"/>
          </a:xfrm>
          <a:prstGeom prst="line">
            <a:avLst/>
          </a:prstGeom>
          <a:noFill/>
          <a:ln w="28575">
            <a:solidFill>
              <a:schemeClr val="tx1"/>
            </a:solidFill>
            <a:round/>
            <a:headEnd/>
            <a:tailEnd type="triangle" w="lg" len="lg"/>
          </a:ln>
          <a:effectLst/>
        </p:spPr>
        <p:txBody>
          <a:bodyPr wrap="none"/>
          <a:lstStyle/>
          <a:p>
            <a:pPr>
              <a:defRPr/>
            </a:pPr>
            <a:endParaRPr lang="en-US">
              <a:cs typeface="+mn-cs"/>
            </a:endParaRPr>
          </a:p>
        </p:txBody>
      </p:sp>
      <p:sp>
        <p:nvSpPr>
          <p:cNvPr id="13" name="Text Box 6">
            <a:extLst>
              <a:ext uri="{FF2B5EF4-FFF2-40B4-BE49-F238E27FC236}">
                <a16:creationId xmlns:a16="http://schemas.microsoft.com/office/drawing/2014/main" id="{A9239B6A-09E5-EBB6-6B4B-65759AB96B85}"/>
              </a:ext>
            </a:extLst>
          </p:cNvPr>
          <p:cNvSpPr txBox="1">
            <a:spLocks noChangeArrowheads="1"/>
          </p:cNvSpPr>
          <p:nvPr/>
        </p:nvSpPr>
        <p:spPr bwMode="auto">
          <a:xfrm>
            <a:off x="6096000" y="876300"/>
            <a:ext cx="1339850" cy="400050"/>
          </a:xfrm>
          <a:prstGeom prst="rect">
            <a:avLst/>
          </a:prstGeom>
          <a:solidFill>
            <a:schemeClr val="accent1"/>
          </a:solidFill>
          <a:ln>
            <a:noFill/>
          </a:ln>
          <a:effectLst/>
        </p:spPr>
        <p:txBody>
          <a:bodyPr wrap="none">
            <a:spAutoFit/>
          </a:bodyPr>
          <a:lstStyle/>
          <a:p>
            <a:pPr eaLnBrk="1" hangingPunct="1">
              <a:defRPr/>
            </a:pPr>
            <a:r>
              <a:rPr lang="en-US" sz="2000" b="1" dirty="0">
                <a:cs typeface="+mn-cs"/>
              </a:rPr>
              <a:t>Audience</a:t>
            </a:r>
          </a:p>
        </p:txBody>
      </p:sp>
      <p:sp>
        <p:nvSpPr>
          <p:cNvPr id="14" name="Text Box 6">
            <a:extLst>
              <a:ext uri="{FF2B5EF4-FFF2-40B4-BE49-F238E27FC236}">
                <a16:creationId xmlns:a16="http://schemas.microsoft.com/office/drawing/2014/main" id="{535BAD34-529C-107B-2E61-DFAB69200299}"/>
              </a:ext>
            </a:extLst>
          </p:cNvPr>
          <p:cNvSpPr txBox="1">
            <a:spLocks noChangeArrowheads="1"/>
          </p:cNvSpPr>
          <p:nvPr/>
        </p:nvSpPr>
        <p:spPr bwMode="auto">
          <a:xfrm>
            <a:off x="6096000" y="2400300"/>
            <a:ext cx="1154113" cy="400050"/>
          </a:xfrm>
          <a:prstGeom prst="rect">
            <a:avLst/>
          </a:prstGeom>
          <a:solidFill>
            <a:schemeClr val="accent1"/>
          </a:solidFill>
          <a:ln>
            <a:noFill/>
          </a:ln>
          <a:effectLst/>
        </p:spPr>
        <p:txBody>
          <a:bodyPr wrap="none">
            <a:spAutoFit/>
          </a:bodyPr>
          <a:lstStyle/>
          <a:p>
            <a:pPr eaLnBrk="1" hangingPunct="1">
              <a:defRPr/>
            </a:pPr>
            <a:r>
              <a:rPr lang="en-US" sz="2000" b="1" dirty="0">
                <a:cs typeface="+mn-cs"/>
              </a:rPr>
              <a:t>Product</a:t>
            </a:r>
          </a:p>
        </p:txBody>
      </p:sp>
      <p:sp>
        <p:nvSpPr>
          <p:cNvPr id="15" name="Text Box 6">
            <a:extLst>
              <a:ext uri="{FF2B5EF4-FFF2-40B4-BE49-F238E27FC236}">
                <a16:creationId xmlns:a16="http://schemas.microsoft.com/office/drawing/2014/main" id="{602A2EA3-A30C-2778-7DC3-3D4C87AB889A}"/>
              </a:ext>
            </a:extLst>
          </p:cNvPr>
          <p:cNvSpPr txBox="1">
            <a:spLocks noChangeArrowheads="1"/>
          </p:cNvSpPr>
          <p:nvPr/>
        </p:nvSpPr>
        <p:spPr bwMode="auto">
          <a:xfrm>
            <a:off x="1676400" y="2400300"/>
            <a:ext cx="1211263" cy="400050"/>
          </a:xfrm>
          <a:prstGeom prst="rect">
            <a:avLst/>
          </a:prstGeom>
          <a:solidFill>
            <a:schemeClr val="accent1"/>
          </a:solidFill>
          <a:ln>
            <a:noFill/>
          </a:ln>
          <a:effectLst/>
        </p:spPr>
        <p:txBody>
          <a:bodyPr wrap="none">
            <a:spAutoFit/>
          </a:bodyPr>
          <a:lstStyle/>
          <a:p>
            <a:pPr eaLnBrk="1" hangingPunct="1">
              <a:defRPr/>
            </a:pPr>
            <a:r>
              <a:rPr lang="en-US" sz="2000" b="1" dirty="0">
                <a:cs typeface="+mn-cs"/>
              </a:rPr>
              <a:t>Purpose</a:t>
            </a:r>
          </a:p>
        </p:txBody>
      </p:sp>
      <p:sp>
        <p:nvSpPr>
          <p:cNvPr id="18" name="Line 7">
            <a:extLst>
              <a:ext uri="{FF2B5EF4-FFF2-40B4-BE49-F238E27FC236}">
                <a16:creationId xmlns:a16="http://schemas.microsoft.com/office/drawing/2014/main" id="{A65FF97B-5731-513D-4041-D1EFD13F1F10}"/>
              </a:ext>
            </a:extLst>
          </p:cNvPr>
          <p:cNvSpPr>
            <a:spLocks noChangeShapeType="1"/>
          </p:cNvSpPr>
          <p:nvPr/>
        </p:nvSpPr>
        <p:spPr bwMode="auto">
          <a:xfrm flipV="1">
            <a:off x="3581400" y="2705100"/>
            <a:ext cx="1828800" cy="0"/>
          </a:xfrm>
          <a:prstGeom prst="line">
            <a:avLst/>
          </a:prstGeom>
          <a:noFill/>
          <a:ln w="28575">
            <a:solidFill>
              <a:schemeClr val="tx1"/>
            </a:solidFill>
            <a:round/>
            <a:headEnd type="triangle" w="lg" len="lg"/>
            <a:tailEnd type="triangle" w="lg" len="lg"/>
          </a:ln>
          <a:effectLst/>
        </p:spPr>
        <p:txBody>
          <a:bodyPr wrap="none"/>
          <a:lstStyle/>
          <a:p>
            <a:pPr>
              <a:defRPr/>
            </a:pPr>
            <a:endParaRPr lang="en-US" dirty="0">
              <a:cs typeface="+mn-cs"/>
            </a:endParaRPr>
          </a:p>
        </p:txBody>
      </p:sp>
      <p:sp>
        <p:nvSpPr>
          <p:cNvPr id="19" name="Line 7">
            <a:extLst>
              <a:ext uri="{FF2B5EF4-FFF2-40B4-BE49-F238E27FC236}">
                <a16:creationId xmlns:a16="http://schemas.microsoft.com/office/drawing/2014/main" id="{A073436A-2C75-ECB8-CB7B-B8456273EB71}"/>
              </a:ext>
            </a:extLst>
          </p:cNvPr>
          <p:cNvSpPr>
            <a:spLocks noChangeShapeType="1"/>
          </p:cNvSpPr>
          <p:nvPr/>
        </p:nvSpPr>
        <p:spPr bwMode="auto">
          <a:xfrm flipH="1">
            <a:off x="6705600" y="1562100"/>
            <a:ext cx="0" cy="533400"/>
          </a:xfrm>
          <a:prstGeom prst="line">
            <a:avLst/>
          </a:prstGeom>
          <a:noFill/>
          <a:ln w="28575">
            <a:solidFill>
              <a:schemeClr val="tx1"/>
            </a:solidFill>
            <a:round/>
            <a:headEnd/>
            <a:tailEnd type="triangle" w="lg" len="lg"/>
          </a:ln>
          <a:effectLst/>
        </p:spPr>
        <p:txBody>
          <a:bodyPr wrap="none"/>
          <a:lstStyle/>
          <a:p>
            <a:pPr>
              <a:defRPr/>
            </a:pPr>
            <a:endParaRPr lang="en-US">
              <a:cs typeface="+mn-cs"/>
            </a:endParaRPr>
          </a:p>
        </p:txBody>
      </p:sp>
      <p:cxnSp>
        <p:nvCxnSpPr>
          <p:cNvPr id="7181" name="Straight Arrow Connector 21">
            <a:extLst>
              <a:ext uri="{FF2B5EF4-FFF2-40B4-BE49-F238E27FC236}">
                <a16:creationId xmlns:a16="http://schemas.microsoft.com/office/drawing/2014/main" id="{D3A30935-7D63-451D-DA35-03EB80CC2AA7}"/>
              </a:ext>
            </a:extLst>
          </p:cNvPr>
          <p:cNvCxnSpPr>
            <a:cxnSpLocks noChangeShapeType="1"/>
          </p:cNvCxnSpPr>
          <p:nvPr/>
        </p:nvCxnSpPr>
        <p:spPr bwMode="auto">
          <a:xfrm flipV="1">
            <a:off x="3581400" y="1333500"/>
            <a:ext cx="1828800" cy="1066800"/>
          </a:xfrm>
          <a:prstGeom prst="straightConnector1">
            <a:avLst/>
          </a:prstGeom>
          <a:noFill/>
          <a:ln w="31750" algn="ctr">
            <a:solidFill>
              <a:schemeClr val="tx1"/>
            </a:solidFill>
            <a:round/>
            <a:headEnd type="triangle" w="lg" len="lg"/>
            <a:tailEnd type="triangle" w="lg" len="lg"/>
          </a:ln>
          <a:extLst>
            <a:ext uri="{909E8E84-426E-40DD-AFC4-6F175D3DCCD1}">
              <a14:hiddenFill xmlns:a14="http://schemas.microsoft.com/office/drawing/2010/main">
                <a:noFill/>
              </a14:hiddenFill>
            </a:ext>
          </a:extLst>
        </p:spPr>
      </p:cxnSp>
      <p:cxnSp>
        <p:nvCxnSpPr>
          <p:cNvPr id="7182" name="Straight Arrow Connector 23">
            <a:extLst>
              <a:ext uri="{FF2B5EF4-FFF2-40B4-BE49-F238E27FC236}">
                <a16:creationId xmlns:a16="http://schemas.microsoft.com/office/drawing/2014/main" id="{F6D9E60C-5642-B6E7-D12F-514D88BA42BC}"/>
              </a:ext>
            </a:extLst>
          </p:cNvPr>
          <p:cNvCxnSpPr>
            <a:cxnSpLocks noChangeShapeType="1"/>
          </p:cNvCxnSpPr>
          <p:nvPr/>
        </p:nvCxnSpPr>
        <p:spPr bwMode="auto">
          <a:xfrm>
            <a:off x="3581400" y="1333500"/>
            <a:ext cx="1828800" cy="1066800"/>
          </a:xfrm>
          <a:prstGeom prst="straightConnector1">
            <a:avLst/>
          </a:prstGeom>
          <a:noFill/>
          <a:ln w="31750" algn="ctr">
            <a:solidFill>
              <a:schemeClr val="tx1"/>
            </a:solidFill>
            <a:round/>
            <a:headEnd type="triangle" w="lg" len="lg"/>
            <a:tailEnd type="triangle" w="lg" len="lg"/>
          </a:ln>
          <a:extLst>
            <a:ext uri="{909E8E84-426E-40DD-AFC4-6F175D3DCCD1}">
              <a14:hiddenFill xmlns:a14="http://schemas.microsoft.com/office/drawing/2010/main">
                <a:noFill/>
              </a14:hiddenFill>
            </a:ext>
          </a:extLst>
        </p:spPr>
      </p:cxnSp>
      <p:sp>
        <p:nvSpPr>
          <p:cNvPr id="7183" name="TextBox 2">
            <a:extLst>
              <a:ext uri="{FF2B5EF4-FFF2-40B4-BE49-F238E27FC236}">
                <a16:creationId xmlns:a16="http://schemas.microsoft.com/office/drawing/2014/main" id="{CCF1FD4F-1F50-D906-3AF2-CE1989D16F6E}"/>
              </a:ext>
            </a:extLst>
          </p:cNvPr>
          <p:cNvSpPr txBox="1">
            <a:spLocks noChangeArrowheads="1"/>
          </p:cNvSpPr>
          <p:nvPr/>
        </p:nvSpPr>
        <p:spPr bwMode="auto">
          <a:xfrm>
            <a:off x="3851275" y="769938"/>
            <a:ext cx="13398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altLang="en-US" b="1"/>
              <a:t>Context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7288">
                                            <p:txEl>
                                              <p:pRg st="0" end="0"/>
                                            </p:txEl>
                                          </p:spTgt>
                                        </p:tgtEl>
                                        <p:attrNameLst>
                                          <p:attrName>style.visibility</p:attrName>
                                        </p:attrNameLst>
                                      </p:cBhvr>
                                      <p:to>
                                        <p:strVal val="visible"/>
                                      </p:to>
                                    </p:set>
                                    <p:anim calcmode="lin" valueType="num">
                                      <p:cBhvr additive="base">
                                        <p:cTn id="7" dur="500" fill="hold"/>
                                        <p:tgtEl>
                                          <p:spTgt spid="9728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28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7288">
                                            <p:txEl>
                                              <p:pRg st="1" end="1"/>
                                            </p:txEl>
                                          </p:spTgt>
                                        </p:tgtEl>
                                        <p:attrNameLst>
                                          <p:attrName>style.visibility</p:attrName>
                                        </p:attrNameLst>
                                      </p:cBhvr>
                                      <p:to>
                                        <p:strVal val="visible"/>
                                      </p:to>
                                    </p:set>
                                    <p:anim calcmode="lin" valueType="num">
                                      <p:cBhvr additive="base">
                                        <p:cTn id="13" dur="500" fill="hold"/>
                                        <p:tgtEl>
                                          <p:spTgt spid="9728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728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7286">
                                            <p:txEl>
                                              <p:pRg st="0" end="0"/>
                                            </p:txEl>
                                          </p:spTgt>
                                        </p:tgtEl>
                                        <p:attrNameLst>
                                          <p:attrName>style.visibility</p:attrName>
                                        </p:attrNameLst>
                                      </p:cBhvr>
                                      <p:to>
                                        <p:strVal val="visible"/>
                                      </p:to>
                                    </p:set>
                                    <p:anim calcmode="lin" valueType="num">
                                      <p:cBhvr additive="base">
                                        <p:cTn id="19" dur="500" fill="hold"/>
                                        <p:tgtEl>
                                          <p:spTgt spid="97286">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72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97286">
                                            <p:txEl>
                                              <p:pRg st="1" end="1"/>
                                            </p:txEl>
                                          </p:spTgt>
                                        </p:tgtEl>
                                        <p:attrNameLst>
                                          <p:attrName>style.visibility</p:attrName>
                                        </p:attrNameLst>
                                      </p:cBhvr>
                                      <p:to>
                                        <p:strVal val="visible"/>
                                      </p:to>
                                    </p:set>
                                    <p:anim calcmode="lin" valueType="num">
                                      <p:cBhvr additive="base">
                                        <p:cTn id="25" dur="500" fill="hold"/>
                                        <p:tgtEl>
                                          <p:spTgt spid="97286">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728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B9C9FA62-DCDF-BB71-540E-6C90D1FAA073}"/>
              </a:ext>
            </a:extLst>
          </p:cNvPr>
          <p:cNvSpPr>
            <a:spLocks noGrp="1" noChangeArrowheads="1"/>
          </p:cNvSpPr>
          <p:nvPr>
            <p:ph type="title"/>
          </p:nvPr>
        </p:nvSpPr>
        <p:spPr>
          <a:xfrm>
            <a:off x="457200" y="33338"/>
            <a:ext cx="8229600" cy="952500"/>
          </a:xfrm>
        </p:spPr>
        <p:txBody>
          <a:bodyPr/>
          <a:lstStyle/>
          <a:p>
            <a:r>
              <a:rPr lang="en-US" altLang="en-US"/>
              <a:t>CMAPP Analysis</a:t>
            </a:r>
          </a:p>
        </p:txBody>
      </p:sp>
      <p:sp>
        <p:nvSpPr>
          <p:cNvPr id="8195" name="Content Placeholder 2">
            <a:extLst>
              <a:ext uri="{FF2B5EF4-FFF2-40B4-BE49-F238E27FC236}">
                <a16:creationId xmlns:a16="http://schemas.microsoft.com/office/drawing/2014/main" id="{2E2060B7-77F0-9B1A-6515-CC2BDC7CB1C1}"/>
              </a:ext>
            </a:extLst>
          </p:cNvPr>
          <p:cNvSpPr>
            <a:spLocks noGrp="1" noChangeArrowheads="1"/>
          </p:cNvSpPr>
          <p:nvPr>
            <p:ph idx="1"/>
          </p:nvPr>
        </p:nvSpPr>
        <p:spPr>
          <a:xfrm>
            <a:off x="539750" y="985838"/>
            <a:ext cx="8229600" cy="3770312"/>
          </a:xfrm>
        </p:spPr>
        <p:txBody>
          <a:bodyPr/>
          <a:lstStyle/>
          <a:p>
            <a:r>
              <a:rPr lang="en-US" altLang="en-US" sz="2800">
                <a:solidFill>
                  <a:srgbClr val="FF0000"/>
                </a:solidFill>
              </a:rPr>
              <a:t>Context</a:t>
            </a:r>
          </a:p>
          <a:p>
            <a:pPr lvl="1"/>
            <a:r>
              <a:rPr lang="en-US" altLang="en-US" sz="2400"/>
              <a:t>What is the underlying or surrounding situation?</a:t>
            </a:r>
          </a:p>
          <a:p>
            <a:pPr lvl="1"/>
            <a:r>
              <a:rPr lang="en-US" altLang="en-US" sz="2400"/>
              <a:t>What are the physical conditions (lighting, noise, etc.)? </a:t>
            </a:r>
          </a:p>
          <a:p>
            <a:pPr lvl="1"/>
            <a:r>
              <a:rPr lang="en-US" altLang="en-US" sz="2400"/>
              <a:t>How will the context affect how my audience responds to me or my message?</a:t>
            </a:r>
          </a:p>
          <a:p>
            <a:pPr lvl="1"/>
            <a:r>
              <a:rPr lang="en-US" altLang="en-US" sz="2400"/>
              <a:t>What is my relationship with my audience?</a:t>
            </a:r>
          </a:p>
          <a:p>
            <a:pPr lvl="1"/>
            <a:r>
              <a:rPr lang="en-US" altLang="en-US" sz="2400"/>
              <a:t>What other relationships involved might have an impact?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EF4DDB59-B8F1-0B84-F0D2-F32DBC5A690B}"/>
              </a:ext>
            </a:extLst>
          </p:cNvPr>
          <p:cNvSpPr>
            <a:spLocks noGrp="1" noChangeArrowheads="1"/>
          </p:cNvSpPr>
          <p:nvPr>
            <p:ph type="title"/>
          </p:nvPr>
        </p:nvSpPr>
        <p:spPr/>
        <p:txBody>
          <a:bodyPr/>
          <a:lstStyle/>
          <a:p>
            <a:r>
              <a:rPr lang="en-US" altLang="en-US"/>
              <a:t>CMAPP Analysis continued</a:t>
            </a:r>
          </a:p>
        </p:txBody>
      </p:sp>
      <p:sp>
        <p:nvSpPr>
          <p:cNvPr id="9219" name="Content Placeholder 2">
            <a:extLst>
              <a:ext uri="{FF2B5EF4-FFF2-40B4-BE49-F238E27FC236}">
                <a16:creationId xmlns:a16="http://schemas.microsoft.com/office/drawing/2014/main" id="{05F38884-D70B-45A0-5855-ABC893978725}"/>
              </a:ext>
            </a:extLst>
          </p:cNvPr>
          <p:cNvSpPr>
            <a:spLocks noGrp="1" noChangeArrowheads="1"/>
          </p:cNvSpPr>
          <p:nvPr>
            <p:ph idx="1"/>
          </p:nvPr>
        </p:nvSpPr>
        <p:spPr>
          <a:xfrm>
            <a:off x="0" y="1181100"/>
            <a:ext cx="9144000" cy="4305300"/>
          </a:xfrm>
        </p:spPr>
        <p:txBody>
          <a:bodyPr/>
          <a:lstStyle/>
          <a:p>
            <a:r>
              <a:rPr lang="en-US" altLang="en-US" sz="1800">
                <a:solidFill>
                  <a:srgbClr val="FF0000"/>
                </a:solidFill>
              </a:rPr>
              <a:t>Message</a:t>
            </a:r>
          </a:p>
          <a:p>
            <a:pPr lvl="1"/>
            <a:r>
              <a:rPr lang="en-US" altLang="en-US" sz="1800"/>
              <a:t>What exactly am I trying to communicate?</a:t>
            </a:r>
          </a:p>
          <a:p>
            <a:pPr lvl="1"/>
            <a:r>
              <a:rPr lang="en-US" altLang="en-US" sz="1800"/>
              <a:t>Is it a message worth communicating?</a:t>
            </a:r>
          </a:p>
          <a:p>
            <a:pPr lvl="1"/>
            <a:r>
              <a:rPr lang="en-US" altLang="en-US" sz="1800"/>
              <a:t>Is my message self-contained, or is it the initial, middle, or final segment of a longer communication?</a:t>
            </a:r>
          </a:p>
          <a:p>
            <a:pPr lvl="1"/>
            <a:r>
              <a:rPr lang="en-US" altLang="en-US" sz="1800"/>
              <a:t>Have I included all necessary and excluded all unnecessary information?</a:t>
            </a:r>
          </a:p>
          <a:p>
            <a:pPr lvl="1"/>
            <a:r>
              <a:rPr lang="en-US" altLang="en-US" sz="1800"/>
              <a:t>Have I provided the specifics that my audience will need and/or want?</a:t>
            </a:r>
          </a:p>
          <a:p>
            <a:pPr lvl="1"/>
            <a:r>
              <a:rPr lang="en-US" altLang="en-US" sz="1800"/>
              <a:t>Do I have more than one message (i.e., one or more secondary messages)?</a:t>
            </a:r>
          </a:p>
          <a:p>
            <a:pPr lvl="1"/>
            <a:r>
              <a:rPr lang="en-US" altLang="en-US" sz="1800"/>
              <a:t>If I have more than one message, have I arranged them in an order that is appropriate for this context, audience, and purpose?</a:t>
            </a:r>
          </a:p>
          <a:p>
            <a:pPr lvl="1"/>
            <a:r>
              <a:rPr lang="en-US" altLang="en-US" sz="1800"/>
              <a:t>Am I the best person to send this message or should the message come from someone else?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FF023243-F341-D846-30E9-FA76353D3852}"/>
              </a:ext>
            </a:extLst>
          </p:cNvPr>
          <p:cNvSpPr>
            <a:spLocks noGrp="1" noChangeArrowheads="1"/>
          </p:cNvSpPr>
          <p:nvPr>
            <p:ph type="title"/>
          </p:nvPr>
        </p:nvSpPr>
        <p:spPr/>
        <p:txBody>
          <a:bodyPr/>
          <a:lstStyle/>
          <a:p>
            <a:r>
              <a:rPr lang="en-US" altLang="en-US"/>
              <a:t>CMAPP Analysis continued</a:t>
            </a:r>
          </a:p>
        </p:txBody>
      </p:sp>
      <p:sp>
        <p:nvSpPr>
          <p:cNvPr id="3" name="Content Placeholder 2">
            <a:extLst>
              <a:ext uri="{FF2B5EF4-FFF2-40B4-BE49-F238E27FC236}">
                <a16:creationId xmlns:a16="http://schemas.microsoft.com/office/drawing/2014/main" id="{D5FF271C-AB10-6430-A76F-D53CE0FB63C3}"/>
              </a:ext>
            </a:extLst>
          </p:cNvPr>
          <p:cNvSpPr>
            <a:spLocks noGrp="1"/>
          </p:cNvSpPr>
          <p:nvPr>
            <p:ph idx="1"/>
          </p:nvPr>
        </p:nvSpPr>
        <p:spPr>
          <a:xfrm>
            <a:off x="179388" y="1344613"/>
            <a:ext cx="8785225" cy="3760787"/>
          </a:xfrm>
        </p:spPr>
        <p:txBody>
          <a:bodyPr/>
          <a:lstStyle/>
          <a:p>
            <a:pPr>
              <a:defRPr/>
            </a:pPr>
            <a:r>
              <a:rPr lang="en-US" sz="2800" dirty="0">
                <a:solidFill>
                  <a:srgbClr val="FF0000"/>
                </a:solidFill>
              </a:rPr>
              <a:t>Audience</a:t>
            </a:r>
          </a:p>
          <a:p>
            <a:pPr lvl="1">
              <a:defRPr/>
            </a:pPr>
            <a:r>
              <a:rPr lang="en-US" sz="2400" dirty="0"/>
              <a:t>Who should receive my communication?</a:t>
            </a:r>
          </a:p>
          <a:p>
            <a:pPr lvl="1">
              <a:defRPr/>
            </a:pPr>
            <a:r>
              <a:rPr lang="en-US" sz="2400" dirty="0"/>
              <a:t>Who will receive it? (primary &amp; secondary audience)</a:t>
            </a:r>
          </a:p>
          <a:p>
            <a:pPr lvl="1">
              <a:defRPr/>
            </a:pPr>
            <a:r>
              <a:rPr lang="en-US" sz="2400" dirty="0"/>
              <a:t>What does my audience know already?</a:t>
            </a:r>
          </a:p>
          <a:p>
            <a:pPr lvl="1">
              <a:defRPr/>
            </a:pPr>
            <a:r>
              <a:rPr lang="en-US" sz="2400" dirty="0"/>
              <a:t>What does my audience need to know?</a:t>
            </a:r>
          </a:p>
          <a:p>
            <a:pPr lvl="1">
              <a:defRPr/>
            </a:pPr>
            <a:r>
              <a:rPr lang="en-US" sz="2400" dirty="0"/>
              <a:t>What does my audience want to know?</a:t>
            </a:r>
          </a:p>
          <a:p>
            <a:pPr lvl="1">
              <a:defRPr/>
            </a:pPr>
            <a:r>
              <a:rPr lang="en-US" sz="2400" dirty="0"/>
              <a:t>What assumptions have I made about my audience?</a:t>
            </a:r>
          </a:p>
          <a:p>
            <a:pPr lvl="1">
              <a:defRPr/>
            </a:pPr>
            <a:r>
              <a:rPr lang="en-US" sz="2400" dirty="0"/>
              <a:t>How specialized (technical) is my audience?</a:t>
            </a:r>
          </a:p>
          <a:p>
            <a:pPr lvl="1">
              <a:defRPr/>
            </a:pPr>
            <a:r>
              <a:rPr lang="en-US" sz="2400" dirty="0"/>
              <a:t>How will my audience benefit from my communication?</a:t>
            </a:r>
          </a:p>
          <a:p>
            <a:pPr marL="411480" lvl="1" indent="0">
              <a:buFontTx/>
              <a:buNone/>
              <a:defRPr/>
            </a:pP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60B14C92-8B70-25FF-2E7F-2033F0E8EDAA}"/>
              </a:ext>
            </a:extLst>
          </p:cNvPr>
          <p:cNvSpPr>
            <a:spLocks noGrp="1" noChangeArrowheads="1"/>
          </p:cNvSpPr>
          <p:nvPr>
            <p:ph type="title"/>
          </p:nvPr>
        </p:nvSpPr>
        <p:spPr/>
        <p:txBody>
          <a:bodyPr/>
          <a:lstStyle/>
          <a:p>
            <a:r>
              <a:rPr lang="en-US" altLang="en-US"/>
              <a:t>CMAPP Analysis continued</a:t>
            </a:r>
          </a:p>
        </p:txBody>
      </p:sp>
      <p:sp>
        <p:nvSpPr>
          <p:cNvPr id="3" name="Content Placeholder 2">
            <a:extLst>
              <a:ext uri="{FF2B5EF4-FFF2-40B4-BE49-F238E27FC236}">
                <a16:creationId xmlns:a16="http://schemas.microsoft.com/office/drawing/2014/main" id="{9974E9E0-7B10-360A-3584-4452DD866247}"/>
              </a:ext>
            </a:extLst>
          </p:cNvPr>
          <p:cNvSpPr>
            <a:spLocks noGrp="1"/>
          </p:cNvSpPr>
          <p:nvPr>
            <p:ph idx="1"/>
          </p:nvPr>
        </p:nvSpPr>
        <p:spPr>
          <a:xfrm>
            <a:off x="107950" y="1181100"/>
            <a:ext cx="8928100" cy="3924300"/>
          </a:xfrm>
        </p:spPr>
        <p:txBody>
          <a:bodyPr/>
          <a:lstStyle/>
          <a:p>
            <a:pPr>
              <a:defRPr/>
            </a:pPr>
            <a:r>
              <a:rPr lang="en-US" dirty="0">
                <a:solidFill>
                  <a:srgbClr val="FF0000"/>
                </a:solidFill>
              </a:rPr>
              <a:t>Purpose</a:t>
            </a:r>
          </a:p>
          <a:p>
            <a:pPr lvl="1">
              <a:defRPr/>
            </a:pPr>
            <a:r>
              <a:rPr lang="en-US" dirty="0"/>
              <a:t>Why should my audience need or want this communication?</a:t>
            </a:r>
          </a:p>
          <a:p>
            <a:pPr lvl="1">
              <a:defRPr/>
            </a:pPr>
            <a:r>
              <a:rPr lang="en-US" dirty="0"/>
              <a:t>What do I want to achieve?</a:t>
            </a:r>
          </a:p>
          <a:p>
            <a:pPr lvl="1">
              <a:defRPr/>
            </a:pPr>
            <a:r>
              <a:rPr lang="en-US" dirty="0"/>
              <a:t>Am I trying to inform, persuade, instruct, or describe?</a:t>
            </a:r>
          </a:p>
          <a:p>
            <a:pPr lvl="1">
              <a:defRPr/>
            </a:pPr>
            <a:r>
              <a:rPr lang="en-US" dirty="0"/>
              <a:t>Was my communication explicitly requested?</a:t>
            </a:r>
          </a:p>
          <a:p>
            <a:pPr lvl="1">
              <a:defRPr/>
            </a:pPr>
            <a:r>
              <a:rPr lang="en-US" dirty="0"/>
              <a:t>Are there deadlines involved?</a:t>
            </a:r>
          </a:p>
          <a:p>
            <a:pPr lvl="1">
              <a:defRPr/>
            </a:pPr>
            <a:r>
              <a:rPr lang="en-US" dirty="0"/>
              <a:t>Have I identified and dealt with the deadlines?</a:t>
            </a:r>
          </a:p>
          <a:p>
            <a:pPr marL="411480" lvl="1" indent="0">
              <a:buFontTx/>
              <a:buNone/>
              <a:defRPr/>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5D6E2E0B-26CA-F178-A5FC-BAD130DC69C7}"/>
              </a:ext>
            </a:extLst>
          </p:cNvPr>
          <p:cNvSpPr>
            <a:spLocks noGrp="1" noChangeArrowheads="1"/>
          </p:cNvSpPr>
          <p:nvPr>
            <p:ph type="title"/>
          </p:nvPr>
        </p:nvSpPr>
        <p:spPr/>
        <p:txBody>
          <a:bodyPr/>
          <a:lstStyle/>
          <a:p>
            <a:r>
              <a:rPr lang="en-US" altLang="en-US"/>
              <a:t>CMAPP Analysis continued</a:t>
            </a:r>
          </a:p>
        </p:txBody>
      </p:sp>
      <p:sp>
        <p:nvSpPr>
          <p:cNvPr id="12291" name="Content Placeholder 2">
            <a:extLst>
              <a:ext uri="{FF2B5EF4-FFF2-40B4-BE49-F238E27FC236}">
                <a16:creationId xmlns:a16="http://schemas.microsoft.com/office/drawing/2014/main" id="{6C02FC4B-297A-AB61-995E-64185F4F567D}"/>
              </a:ext>
            </a:extLst>
          </p:cNvPr>
          <p:cNvSpPr>
            <a:spLocks noGrp="1" noChangeArrowheads="1"/>
          </p:cNvSpPr>
          <p:nvPr>
            <p:ph idx="1"/>
          </p:nvPr>
        </p:nvSpPr>
        <p:spPr/>
        <p:txBody>
          <a:bodyPr/>
          <a:lstStyle/>
          <a:p>
            <a:r>
              <a:rPr lang="en-US" altLang="en-US">
                <a:solidFill>
                  <a:srgbClr val="FF0000"/>
                </a:solidFill>
              </a:rPr>
              <a:t>Product</a:t>
            </a:r>
          </a:p>
          <a:p>
            <a:pPr lvl="1"/>
            <a:r>
              <a:rPr lang="en-US" altLang="en-US"/>
              <a:t>Should I be writing, making a phone call, or visiting?</a:t>
            </a:r>
          </a:p>
          <a:p>
            <a:pPr lvl="1"/>
            <a:r>
              <a:rPr lang="en-US" altLang="en-US"/>
              <a:t>Have I chosen a product (e.g. letter, memo, report, presentation) that is appropriate for this context, audience, message, and purpose?</a:t>
            </a:r>
          </a:p>
          <a:p>
            <a:pPr lvl="1"/>
            <a:r>
              <a:rPr lang="en-US" altLang="en-US"/>
              <a:t>Does the wording and format of my product reflect the image I want to present?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6AF68B76-B924-BF1E-D0AC-05CB5F9211A1}"/>
              </a:ext>
            </a:extLst>
          </p:cNvPr>
          <p:cNvSpPr>
            <a:spLocks noGrp="1" noChangeArrowheads="1"/>
          </p:cNvSpPr>
          <p:nvPr>
            <p:ph type="title"/>
          </p:nvPr>
        </p:nvSpPr>
        <p:spPr>
          <a:xfrm>
            <a:off x="457200" y="228600"/>
            <a:ext cx="8229600" cy="468313"/>
          </a:xfrm>
        </p:spPr>
        <p:txBody>
          <a:bodyPr/>
          <a:lstStyle/>
          <a:p>
            <a:r>
              <a:rPr lang="en-US" altLang="en-US"/>
              <a:t>Nature of CMAPP</a:t>
            </a:r>
          </a:p>
        </p:txBody>
      </p:sp>
      <p:sp>
        <p:nvSpPr>
          <p:cNvPr id="13315" name="Content Placeholder 2">
            <a:extLst>
              <a:ext uri="{FF2B5EF4-FFF2-40B4-BE49-F238E27FC236}">
                <a16:creationId xmlns:a16="http://schemas.microsoft.com/office/drawing/2014/main" id="{9F54BD39-5A43-65EF-73B9-820BFC230B6B}"/>
              </a:ext>
            </a:extLst>
          </p:cNvPr>
          <p:cNvSpPr>
            <a:spLocks noGrp="1" noChangeArrowheads="1"/>
          </p:cNvSpPr>
          <p:nvPr>
            <p:ph idx="1"/>
          </p:nvPr>
        </p:nvSpPr>
        <p:spPr>
          <a:xfrm>
            <a:off x="122238" y="1028700"/>
            <a:ext cx="9021762" cy="4457700"/>
          </a:xfrm>
        </p:spPr>
        <p:txBody>
          <a:bodyPr/>
          <a:lstStyle/>
          <a:p>
            <a:r>
              <a:rPr lang="en-US" altLang="en-US" sz="2000"/>
              <a:t>While traditional communication models are linear which means they progress from one step to the next, CMAPP model is rather </a:t>
            </a:r>
            <a:r>
              <a:rPr lang="en-US" altLang="en-US" sz="2000">
                <a:solidFill>
                  <a:srgbClr val="FF0000"/>
                </a:solidFill>
              </a:rPr>
              <a:t>dynamic</a:t>
            </a:r>
            <a:r>
              <a:rPr lang="en-US" altLang="en-US" sz="2000"/>
              <a:t>. </a:t>
            </a:r>
          </a:p>
          <a:p>
            <a:r>
              <a:rPr lang="en-US" altLang="en-US" sz="2000"/>
              <a:t>In this dynamic model, even the slightest change in one element has a ripple effect on all the others.</a:t>
            </a:r>
          </a:p>
          <a:p>
            <a:r>
              <a:rPr lang="en-US" altLang="en-US" sz="2000"/>
              <a:t>Knowing about your audience helps determine your context. That knowledge about the context helps you identify the particular audience. Knowing your audience helps you identify and refine your purpose.</a:t>
            </a:r>
          </a:p>
          <a:p>
            <a:r>
              <a:rPr lang="en-US" altLang="en-US" sz="2000"/>
              <a:t>As you refine your purpose, you get a better idea of the most appropriate product. Your conception of the product is also dependent on your audience, which in turn effects your message.</a:t>
            </a:r>
          </a:p>
          <a:p>
            <a:endParaRPr lang="en-US" altLang="en-US" sz="2000"/>
          </a:p>
        </p:txBody>
      </p:sp>
      <p:sp>
        <p:nvSpPr>
          <p:cNvPr id="2" name="Rectangle: Rounded Corners 1">
            <a:extLst>
              <a:ext uri="{FF2B5EF4-FFF2-40B4-BE49-F238E27FC236}">
                <a16:creationId xmlns:a16="http://schemas.microsoft.com/office/drawing/2014/main" id="{C5965E90-DBDB-8E68-7EF0-0D096764B77F}"/>
              </a:ext>
            </a:extLst>
          </p:cNvPr>
          <p:cNvSpPr/>
          <p:nvPr/>
        </p:nvSpPr>
        <p:spPr>
          <a:xfrm>
            <a:off x="611188" y="4441825"/>
            <a:ext cx="8075612" cy="9525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defRPr/>
            </a:pPr>
            <a:r>
              <a:rPr lang="en-US" altLang="en-US" dirty="0">
                <a:solidFill>
                  <a:srgbClr val="000000"/>
                </a:solidFill>
              </a:rPr>
              <a:t>You may have noticed that CMAPP does not make explicit reference to a prime component of transactional models i.e., the </a:t>
            </a:r>
            <a:r>
              <a:rPr lang="en-US" altLang="en-US" b="1" i="1" dirty="0">
                <a:solidFill>
                  <a:srgbClr val="000000"/>
                </a:solidFill>
              </a:rPr>
              <a:t>feedback</a:t>
            </a:r>
            <a:r>
              <a:rPr lang="en-US" altLang="en-US" dirty="0">
                <a:solidFill>
                  <a:srgbClr val="000000"/>
                </a:solidFill>
              </a:rPr>
              <a:t>.</a:t>
            </a: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06E9510-B2BE-0112-6485-536DF10D1265}"/>
              </a:ext>
            </a:extLst>
          </p:cNvPr>
          <p:cNvSpPr>
            <a:spLocks noGrp="1" noChangeArrowheads="1"/>
          </p:cNvSpPr>
          <p:nvPr>
            <p:ph type="title"/>
          </p:nvPr>
        </p:nvSpPr>
        <p:spPr>
          <a:xfrm>
            <a:off x="457200" y="228600"/>
            <a:ext cx="8229600" cy="612775"/>
          </a:xfrm>
        </p:spPr>
        <p:txBody>
          <a:bodyPr/>
          <a:lstStyle/>
          <a:p>
            <a:r>
              <a:rPr lang="en-US" altLang="en-US"/>
              <a:t>Read this!</a:t>
            </a:r>
          </a:p>
        </p:txBody>
      </p:sp>
      <p:sp>
        <p:nvSpPr>
          <p:cNvPr id="14339" name="Content Placeholder 2">
            <a:extLst>
              <a:ext uri="{FF2B5EF4-FFF2-40B4-BE49-F238E27FC236}">
                <a16:creationId xmlns:a16="http://schemas.microsoft.com/office/drawing/2014/main" id="{615336C7-9242-B349-6881-EB0F744945CC}"/>
              </a:ext>
            </a:extLst>
          </p:cNvPr>
          <p:cNvSpPr>
            <a:spLocks noGrp="1" noChangeArrowheads="1"/>
          </p:cNvSpPr>
          <p:nvPr>
            <p:ph idx="1"/>
          </p:nvPr>
        </p:nvSpPr>
        <p:spPr>
          <a:xfrm>
            <a:off x="250825" y="1201738"/>
            <a:ext cx="8642350" cy="3903662"/>
          </a:xfrm>
        </p:spPr>
        <p:txBody>
          <a:bodyPr/>
          <a:lstStyle/>
          <a:p>
            <a:pPr marL="0" indent="0" algn="just">
              <a:buFontTx/>
              <a:buNone/>
            </a:pPr>
            <a:r>
              <a:rPr lang="en-US" altLang="en-US" sz="2800"/>
              <a:t>Cloud computing has transformed how organizations store and manage data. Instead of maintaining physical servers, companies now use remote data centers operated by service providers. This shift reduces infrastructure costs and increases scalability. However, it also introduces concerns regarding data security and service reliability. As businesses increasingly adopt cloud-based systems, understanding both its operational advantages and associated risks becomes essential.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8F06D7B7-35C6-F0C9-2D23-A682C5A8EA9E}"/>
              </a:ext>
            </a:extLst>
          </p:cNvPr>
          <p:cNvSpPr>
            <a:spLocks noGrp="1" noChangeArrowheads="1"/>
          </p:cNvSpPr>
          <p:nvPr>
            <p:ph type="title"/>
          </p:nvPr>
        </p:nvSpPr>
        <p:spPr/>
        <p:txBody>
          <a:bodyPr/>
          <a:lstStyle/>
          <a:p>
            <a:r>
              <a:rPr lang="en-US" altLang="en-US"/>
              <a:t>Now answer these questions!</a:t>
            </a:r>
          </a:p>
        </p:txBody>
      </p:sp>
      <p:sp>
        <p:nvSpPr>
          <p:cNvPr id="15363" name="Content Placeholder 2">
            <a:extLst>
              <a:ext uri="{FF2B5EF4-FFF2-40B4-BE49-F238E27FC236}">
                <a16:creationId xmlns:a16="http://schemas.microsoft.com/office/drawing/2014/main" id="{FAEFF8CC-158C-9562-5291-A4296983042A}"/>
              </a:ext>
            </a:extLst>
          </p:cNvPr>
          <p:cNvSpPr>
            <a:spLocks noGrp="1" noChangeArrowheads="1"/>
          </p:cNvSpPr>
          <p:nvPr>
            <p:ph idx="1"/>
          </p:nvPr>
        </p:nvSpPr>
        <p:spPr>
          <a:xfrm>
            <a:off x="457200" y="1562100"/>
            <a:ext cx="8229600" cy="3543300"/>
          </a:xfrm>
        </p:spPr>
        <p:txBody>
          <a:bodyPr/>
          <a:lstStyle/>
          <a:p>
            <a:r>
              <a:rPr lang="en-US" altLang="en-US"/>
              <a:t>Context: What larger situation makes this topic relevant?</a:t>
            </a:r>
          </a:p>
          <a:p>
            <a:r>
              <a:rPr lang="en-US" altLang="en-US"/>
              <a:t>Message: What is the main idea being explained?</a:t>
            </a:r>
          </a:p>
          <a:p>
            <a:r>
              <a:rPr lang="en-US" altLang="en-US"/>
              <a:t>Audience: Who is this written for?</a:t>
            </a:r>
          </a:p>
          <a:p>
            <a:r>
              <a:rPr lang="en-US" altLang="en-US"/>
              <a:t>Purpose: Why was this written?</a:t>
            </a:r>
          </a:p>
          <a:p>
            <a:r>
              <a:rPr lang="en-US" altLang="en-US"/>
              <a:t>Product: What type of text is this?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7B3F71C7-5162-2769-9FFC-108935A52AE0}"/>
              </a:ext>
            </a:extLst>
          </p:cNvPr>
          <p:cNvSpPr>
            <a:spLocks noGrp="1" noChangeArrowheads="1"/>
          </p:cNvSpPr>
          <p:nvPr>
            <p:ph type="title"/>
          </p:nvPr>
        </p:nvSpPr>
        <p:spPr>
          <a:xfrm>
            <a:off x="457200" y="696913"/>
            <a:ext cx="8229600" cy="484187"/>
          </a:xfrm>
        </p:spPr>
        <p:txBody>
          <a:bodyPr/>
          <a:lstStyle/>
          <a:p>
            <a:r>
              <a:rPr lang="en-US" altLang="en-US"/>
              <a:t>Applying CMAPP:</a:t>
            </a:r>
          </a:p>
        </p:txBody>
      </p:sp>
      <p:sp>
        <p:nvSpPr>
          <p:cNvPr id="16387" name="Rectangle 1">
            <a:extLst>
              <a:ext uri="{FF2B5EF4-FFF2-40B4-BE49-F238E27FC236}">
                <a16:creationId xmlns:a16="http://schemas.microsoft.com/office/drawing/2014/main" id="{339FC66E-528D-1A3C-5B7B-6295FAE79431}"/>
              </a:ext>
            </a:extLst>
          </p:cNvPr>
          <p:cNvSpPr>
            <a:spLocks noGrp="1" noChangeArrowheads="1"/>
          </p:cNvSpPr>
          <p:nvPr>
            <p:ph idx="1"/>
          </p:nvPr>
        </p:nvSpPr>
        <p:spPr>
          <a:xfrm>
            <a:off x="457200" y="1806575"/>
            <a:ext cx="7643813" cy="282575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indent="0">
              <a:spcBef>
                <a:spcPct val="0"/>
              </a:spcBef>
            </a:pPr>
            <a:r>
              <a:rPr lang="en-US" altLang="en-US" sz="1800" b="1"/>
              <a:t>Context:</a:t>
            </a:r>
            <a:r>
              <a:rPr lang="en-US" altLang="en-US" sz="1800"/>
              <a:t> Growth of digital infrastructure and cloud adoption</a:t>
            </a:r>
          </a:p>
          <a:p>
            <a:pPr marL="0" indent="0">
              <a:spcBef>
                <a:spcPct val="0"/>
              </a:spcBef>
            </a:pPr>
            <a:r>
              <a:rPr lang="en-US" altLang="en-US" sz="1800" b="1"/>
              <a:t>Message:</a:t>
            </a:r>
            <a:r>
              <a:rPr lang="en-US" altLang="en-US" sz="1800"/>
              <a:t> Cloud computing changes data management and has benefits and risks</a:t>
            </a:r>
          </a:p>
          <a:p>
            <a:pPr marL="0" indent="0">
              <a:spcBef>
                <a:spcPct val="0"/>
              </a:spcBef>
            </a:pPr>
            <a:r>
              <a:rPr lang="en-US" altLang="en-US" sz="1800" b="1"/>
              <a:t>Audience:</a:t>
            </a:r>
            <a:r>
              <a:rPr lang="en-US" altLang="en-US" sz="1800"/>
              <a:t> Business or technology students/professionals</a:t>
            </a:r>
          </a:p>
          <a:p>
            <a:pPr marL="0" indent="0">
              <a:spcBef>
                <a:spcPct val="0"/>
              </a:spcBef>
            </a:pPr>
            <a:r>
              <a:rPr lang="en-US" altLang="en-US" sz="1800" b="1"/>
              <a:t>Purpose:</a:t>
            </a:r>
            <a:r>
              <a:rPr lang="en-US" altLang="en-US" sz="1800"/>
              <a:t> To explain advantages and concerns</a:t>
            </a:r>
          </a:p>
          <a:p>
            <a:pPr marL="0" indent="0">
              <a:spcBef>
                <a:spcPct val="0"/>
              </a:spcBef>
            </a:pPr>
            <a:r>
              <a:rPr lang="en-US" altLang="en-US" sz="1800" b="1"/>
              <a:t>Product:</a:t>
            </a:r>
            <a:r>
              <a:rPr lang="en-US" altLang="en-US" sz="1800"/>
              <a:t> Informational paragraph / academic expository text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C7D40639-32F3-6BE3-78E5-FD3AE7ABECD2}"/>
              </a:ext>
            </a:extLst>
          </p:cNvPr>
          <p:cNvSpPr>
            <a:spLocks noGrp="1" noChangeArrowheads="1"/>
          </p:cNvSpPr>
          <p:nvPr>
            <p:ph type="title"/>
          </p:nvPr>
        </p:nvSpPr>
        <p:spPr/>
        <p:txBody>
          <a:bodyPr/>
          <a:lstStyle/>
          <a:p>
            <a:r>
              <a:rPr lang="en-US" altLang="en-US"/>
              <a:t>Another example:</a:t>
            </a:r>
          </a:p>
        </p:txBody>
      </p:sp>
      <p:sp>
        <p:nvSpPr>
          <p:cNvPr id="17411" name="Content Placeholder 2">
            <a:extLst>
              <a:ext uri="{FF2B5EF4-FFF2-40B4-BE49-F238E27FC236}">
                <a16:creationId xmlns:a16="http://schemas.microsoft.com/office/drawing/2014/main" id="{4DE1CA32-DC9A-C8F8-C8B9-F7257D9CA2AF}"/>
              </a:ext>
            </a:extLst>
          </p:cNvPr>
          <p:cNvSpPr>
            <a:spLocks noGrp="1" noChangeArrowheads="1"/>
          </p:cNvSpPr>
          <p:nvPr>
            <p:ph idx="1"/>
          </p:nvPr>
        </p:nvSpPr>
        <p:spPr>
          <a:xfrm>
            <a:off x="250825" y="1333500"/>
            <a:ext cx="8785225" cy="4152900"/>
          </a:xfrm>
        </p:spPr>
        <p:txBody>
          <a:bodyPr/>
          <a:lstStyle/>
          <a:p>
            <a:pPr marL="0" indent="0" algn="just">
              <a:buFontTx/>
              <a:buNone/>
            </a:pPr>
            <a:r>
              <a:rPr lang="en-US" altLang="en-US" sz="2400" b="1"/>
              <a:t>Scenario: </a:t>
            </a:r>
            <a:r>
              <a:rPr lang="en-US" altLang="en-US" sz="2400"/>
              <a:t>The computer system you purchased from Acme High-Tech Products has given you considerable trouble. Angry, you dash off a letter (letter in the next slide) to Acme's sales manager, Mr. Kim. You do not mail this letter. Instead, you wait until you are calm, then decide to construct a letter that adheres to the principles of good technical communication. The first step is to conduct a CMAPP analysis. For the purposes of this exercise, do not write the new letter but simply answer the CMAPP questions given in the coming slides.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058EC6-E728-8987-396E-308437FC0BB7}"/>
              </a:ext>
            </a:extLst>
          </p:cNvPr>
          <p:cNvSpPr>
            <a:spLocks noGrp="1"/>
          </p:cNvSpPr>
          <p:nvPr>
            <p:ph idx="1"/>
          </p:nvPr>
        </p:nvSpPr>
        <p:spPr>
          <a:xfrm>
            <a:off x="0" y="120650"/>
            <a:ext cx="9144000" cy="5594350"/>
          </a:xfrm>
        </p:spPr>
        <p:txBody>
          <a:bodyPr/>
          <a:lstStyle/>
          <a:p>
            <a:pPr marL="0" algn="just">
              <a:lnSpc>
                <a:spcPct val="115000"/>
              </a:lnSpc>
              <a:spcAft>
                <a:spcPts val="1000"/>
              </a:spcAft>
              <a:buFontTx/>
              <a:buNone/>
              <a:defRPr/>
            </a:pPr>
            <a:r>
              <a:rPr lang="en-GB" sz="1600" b="1" dirty="0">
                <a:latin typeface="Times New Roman" panose="02020603050405020304" pitchFamily="18" charset="0"/>
                <a:ea typeface="Calibri" panose="020F0502020204030204" pitchFamily="34" charset="0"/>
                <a:cs typeface="Times New Roman" panose="02020603050405020304" pitchFamily="18" charset="0"/>
              </a:rPr>
              <a:t>Letter to Mr. Kim: </a:t>
            </a:r>
            <a:r>
              <a:rPr lang="en-GB" sz="1600" dirty="0">
                <a:latin typeface="Times New Roman" panose="02020603050405020304" pitchFamily="18" charset="0"/>
                <a:ea typeface="Calibri" panose="020F0502020204030204" pitchFamily="34" charset="0"/>
                <a:cs typeface="Times New Roman" panose="02020603050405020304" pitchFamily="18" charset="0"/>
              </a:rPr>
              <a:t>Last month we purchased a computer from you, sold to us by Mr. Webley, a salesperson in your shop. He came to our house, when we asked him to come over. We spoke with him for a couple of hours, gave him coffee, and eventually decided to buy the PB-2 "User-Friendly Package" that he showed us in the many pages of advertising material he had brought.</a:t>
            </a: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GB" sz="1600" dirty="0">
                <a:latin typeface="Times New Roman" panose="02020603050405020304" pitchFamily="18" charset="0"/>
                <a:ea typeface="Calibri" panose="020F0502020204030204" pitchFamily="34" charset="0"/>
                <a:cs typeface="Times New Roman" panose="02020603050405020304" pitchFamily="18" charset="0"/>
              </a:rPr>
              <a:t>When the merchandise arrived two days later, the person who came said he replaced Mr. Webley on Fridays. He really didn't seem to know what he was doing. He kept referring to the manuals that came with the package, and he wore a continual worried look while trying to make little jokes about the complex technology we have in our lives now. Eventually he seemed to get it all working and left. By then it was 8 p.m., some three hours since he'd arrived.</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0" algn="just">
              <a:lnSpc>
                <a:spcPct val="115000"/>
              </a:lnSpc>
              <a:spcAft>
                <a:spcPts val="1000"/>
              </a:spcAft>
              <a:buFontTx/>
              <a:buNone/>
              <a:defRPr/>
            </a:pPr>
            <a:r>
              <a:rPr lang="en-GB" sz="1600" dirty="0">
                <a:latin typeface="Times New Roman" panose="02020603050405020304" pitchFamily="18" charset="0"/>
                <a:ea typeface="Calibri" panose="020F0502020204030204" pitchFamily="34" charset="0"/>
                <a:cs typeface="Times New Roman" panose="02020603050405020304" pitchFamily="18" charset="0"/>
              </a:rPr>
              <a:t>The next morning, I had some spreadsheets to do. As I told Mr. Webley before he suggested the PB-2 package, I've had quite a bit of experience with the old Lotus 1-2-3. So, I bought a copy of Office from Acme, as part of the package, along with Quicken, Quake, Encarta, and Front Page.</a:t>
            </a: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GB" sz="1600" dirty="0">
                <a:latin typeface="Times New Roman" panose="02020603050405020304" pitchFamily="18" charset="0"/>
                <a:ea typeface="Calibri" panose="020F0502020204030204" pitchFamily="34" charset="0"/>
                <a:cs typeface="Times New Roman" panose="02020603050405020304" pitchFamily="18" charset="0"/>
              </a:rPr>
              <a:t>Unfortunately, I had one system error after another (I think that's what they were), never did get my work finished, and, to top it off, found the printer-the </a:t>
            </a:r>
            <a:r>
              <a:rPr lang="en-GB" sz="1600" dirty="0" err="1">
                <a:latin typeface="Times New Roman" panose="02020603050405020304" pitchFamily="18" charset="0"/>
                <a:ea typeface="Calibri" panose="020F0502020204030204" pitchFamily="34" charset="0"/>
                <a:cs typeface="Times New Roman" panose="02020603050405020304" pitchFamily="18" charset="0"/>
              </a:rPr>
              <a:t>Printomatic</a:t>
            </a:r>
            <a:r>
              <a:rPr lang="en-GB" sz="1600" dirty="0">
                <a:latin typeface="Times New Roman" panose="02020603050405020304" pitchFamily="18" charset="0"/>
                <a:ea typeface="Calibri" panose="020F0502020204030204" pitchFamily="34" charset="0"/>
                <a:cs typeface="Times New Roman" panose="02020603050405020304" pitchFamily="18" charset="0"/>
              </a:rPr>
              <a:t> 554, also part of the package-wouldn't accept the commands I keyed.</a:t>
            </a:r>
            <a:r>
              <a:rPr lang="en-US" sz="1600" dirty="0">
                <a:latin typeface="Calibri" panose="020F0502020204030204" pitchFamily="34" charset="0"/>
                <a:ea typeface="Calibri" panose="020F0502020204030204" pitchFamily="34" charset="0"/>
                <a:cs typeface="Times New Roman" panose="02020603050405020304" pitchFamily="18" charset="0"/>
              </a:rPr>
              <a:t> </a:t>
            </a:r>
            <a:r>
              <a:rPr lang="en-GB" sz="1600" dirty="0">
                <a:latin typeface="Times New Roman" panose="02020603050405020304" pitchFamily="18" charset="0"/>
                <a:ea typeface="Calibri" panose="020F0502020204030204" pitchFamily="34" charset="0"/>
                <a:cs typeface="Times New Roman" panose="02020603050405020304" pitchFamily="18" charset="0"/>
              </a:rPr>
              <a:t>No one was at the service number Mr. Webley provided when I called that afternoon-a Saturday-nor the next day. On Monday, someone answered but got quite rude when I told my story and demanded that Acme either arrange for real support for its customers or pick up its lousy equipment and give me my money back! After that call, I gave up trying to contact anyone and wrote this on my typewriter, not on your shoddy computer! I better hear from you in the next couple of days, or you'll be hearing from my lawyer, who's getting a copy of this letter too.</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defRPr/>
            </a:pP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2C4BD67D-D173-1DB4-896B-DBD878D68E92}"/>
              </a:ext>
            </a:extLst>
          </p:cNvPr>
          <p:cNvSpPr>
            <a:spLocks noGrp="1" noChangeArrowheads="1"/>
          </p:cNvSpPr>
          <p:nvPr>
            <p:ph type="title"/>
          </p:nvPr>
        </p:nvSpPr>
        <p:spPr/>
        <p:txBody>
          <a:bodyPr/>
          <a:lstStyle/>
          <a:p>
            <a:r>
              <a:rPr lang="en-US" altLang="en-US"/>
              <a:t>Context</a:t>
            </a:r>
          </a:p>
        </p:txBody>
      </p:sp>
      <p:sp>
        <p:nvSpPr>
          <p:cNvPr id="3" name="Content Placeholder 2">
            <a:extLst>
              <a:ext uri="{FF2B5EF4-FFF2-40B4-BE49-F238E27FC236}">
                <a16:creationId xmlns:a16="http://schemas.microsoft.com/office/drawing/2014/main" id="{3C06C8A9-C1EB-CF8A-6076-C71AC7982360}"/>
              </a:ext>
            </a:extLst>
          </p:cNvPr>
          <p:cNvSpPr>
            <a:spLocks noGrp="1"/>
          </p:cNvSpPr>
          <p:nvPr>
            <p:ph idx="1"/>
          </p:nvPr>
        </p:nvSpPr>
        <p:spPr/>
        <p:txBody>
          <a:bodyPr/>
          <a:lstStyle/>
          <a:p>
            <a:pPr marL="0" indent="0">
              <a:buFontTx/>
              <a:buNone/>
              <a:defRPr/>
            </a:pPr>
            <a:r>
              <a:rPr lang="en-US" dirty="0"/>
              <a:t>1. What has prompted you to write a new letter?</a:t>
            </a:r>
          </a:p>
          <a:p>
            <a:pPr marL="0" indent="0">
              <a:buFontTx/>
              <a:buNone/>
              <a:defRPr/>
            </a:pPr>
            <a:r>
              <a:rPr lang="en-US" dirty="0"/>
              <a:t>2. How would you describe the relationship between you and your audience?</a:t>
            </a:r>
          </a:p>
          <a:p>
            <a:pPr marL="0" indent="0">
              <a:buFontTx/>
              <a:buNone/>
              <a:defRPr/>
            </a:pPr>
            <a:r>
              <a:rPr lang="en-US" dirty="0"/>
              <a:t>3. What are you prepared to do if your letter fails to meet its intended objective?</a:t>
            </a:r>
          </a:p>
          <a:p>
            <a:pPr>
              <a:defRPr/>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52700385-47D4-424D-D727-026DB1B077EC}"/>
              </a:ext>
            </a:extLst>
          </p:cNvPr>
          <p:cNvSpPr>
            <a:spLocks noGrp="1" noChangeArrowheads="1"/>
          </p:cNvSpPr>
          <p:nvPr>
            <p:ph type="title"/>
          </p:nvPr>
        </p:nvSpPr>
        <p:spPr/>
        <p:txBody>
          <a:bodyPr/>
          <a:lstStyle/>
          <a:p>
            <a:r>
              <a:rPr lang="en-US" altLang="en-US"/>
              <a:t>Message</a:t>
            </a:r>
          </a:p>
        </p:txBody>
      </p:sp>
      <p:sp>
        <p:nvSpPr>
          <p:cNvPr id="20483" name="Content Placeholder 2">
            <a:extLst>
              <a:ext uri="{FF2B5EF4-FFF2-40B4-BE49-F238E27FC236}">
                <a16:creationId xmlns:a16="http://schemas.microsoft.com/office/drawing/2014/main" id="{6469DEA4-0675-3C67-D7EA-70780C50ECBA}"/>
              </a:ext>
            </a:extLst>
          </p:cNvPr>
          <p:cNvSpPr>
            <a:spLocks noGrp="1" noChangeArrowheads="1"/>
          </p:cNvSpPr>
          <p:nvPr>
            <p:ph idx="1"/>
          </p:nvPr>
        </p:nvSpPr>
        <p:spPr>
          <a:xfrm>
            <a:off x="457200" y="1993900"/>
            <a:ext cx="8229600" cy="3111500"/>
          </a:xfrm>
        </p:spPr>
        <p:txBody>
          <a:bodyPr/>
          <a:lstStyle/>
          <a:p>
            <a:pPr algn="just">
              <a:lnSpc>
                <a:spcPct val="115000"/>
              </a:lnSpc>
              <a:buFont typeface="Arial" panose="020B0604020202020204" pitchFamily="34" charset="0"/>
              <a:buAutoNum type="arabicPeriod"/>
            </a:pPr>
            <a:r>
              <a:rPr lang="en-US" altLang="en-US">
                <a:ea typeface="Calibri" panose="020F0502020204030204" pitchFamily="34" charset="0"/>
                <a:cs typeface="Times New Roman" panose="02020603050405020304" pitchFamily="18" charset="0"/>
              </a:rPr>
              <a:t> What are your main points?</a:t>
            </a:r>
          </a:p>
          <a:p>
            <a:pPr algn="just">
              <a:lnSpc>
                <a:spcPct val="115000"/>
              </a:lnSpc>
              <a:spcAft>
                <a:spcPts val="1000"/>
              </a:spcAft>
              <a:buFont typeface="Arial" panose="020B0604020202020204" pitchFamily="34" charset="0"/>
              <a:buAutoNum type="arabicPeriod"/>
            </a:pPr>
            <a:r>
              <a:rPr lang="en-US" altLang="en-US">
                <a:ea typeface="Calibri" panose="020F0502020204030204" pitchFamily="34" charset="0"/>
                <a:cs typeface="Times New Roman" panose="02020603050405020304" pitchFamily="18" charset="0"/>
              </a:rPr>
              <a:t> If you have any secondary points, what are they?</a:t>
            </a:r>
          </a:p>
          <a:p>
            <a:endParaRPr lang="en-US" altLang="en-US">
              <a:ea typeface="Calibri" panose="020F0502020204030204" pitchFamily="34"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BD35C75C-D01F-F9F3-DB5A-894903DAE720}"/>
              </a:ext>
            </a:extLst>
          </p:cNvPr>
          <p:cNvSpPr>
            <a:spLocks noGrp="1" noChangeArrowheads="1"/>
          </p:cNvSpPr>
          <p:nvPr>
            <p:ph type="title"/>
          </p:nvPr>
        </p:nvSpPr>
        <p:spPr/>
        <p:txBody>
          <a:bodyPr/>
          <a:lstStyle/>
          <a:p>
            <a:r>
              <a:rPr lang="en-US" altLang="en-US"/>
              <a:t>Audience</a:t>
            </a:r>
          </a:p>
        </p:txBody>
      </p:sp>
      <p:sp>
        <p:nvSpPr>
          <p:cNvPr id="21507" name="Content Placeholder 2">
            <a:extLst>
              <a:ext uri="{FF2B5EF4-FFF2-40B4-BE49-F238E27FC236}">
                <a16:creationId xmlns:a16="http://schemas.microsoft.com/office/drawing/2014/main" id="{B1B47D0B-1F6C-1798-CD31-581C4A82DBEB}"/>
              </a:ext>
            </a:extLst>
          </p:cNvPr>
          <p:cNvSpPr>
            <a:spLocks noGrp="1" noChangeArrowheads="1"/>
          </p:cNvSpPr>
          <p:nvPr>
            <p:ph idx="1"/>
          </p:nvPr>
        </p:nvSpPr>
        <p:spPr/>
        <p:txBody>
          <a:bodyPr/>
          <a:lstStyle/>
          <a:p>
            <a:pPr algn="just">
              <a:lnSpc>
                <a:spcPct val="115000"/>
              </a:lnSpc>
              <a:buFont typeface="Arial" panose="020B0604020202020204" pitchFamily="34" charset="0"/>
              <a:buAutoNum type="arabicPeriod"/>
            </a:pPr>
            <a:r>
              <a:rPr lang="en-US" altLang="en-US">
                <a:latin typeface="Times New Roman" panose="02020603050405020304" pitchFamily="18" charset="0"/>
                <a:ea typeface="Calibri" panose="020F0502020204030204" pitchFamily="34" charset="0"/>
                <a:cs typeface="Times New Roman" panose="02020603050405020304" pitchFamily="18" charset="0"/>
              </a:rPr>
              <a:t>Who is your audience? </a:t>
            </a:r>
            <a:endParaRPr lang="en-US" altLang="en-US" sz="280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buFont typeface="Arial" panose="020B0604020202020204" pitchFamily="34" charset="0"/>
              <a:buAutoNum type="arabicPeriod"/>
            </a:pPr>
            <a:r>
              <a:rPr lang="en-US" altLang="en-US">
                <a:latin typeface="Times New Roman" panose="02020603050405020304" pitchFamily="18" charset="0"/>
                <a:ea typeface="Calibri" panose="020F0502020204030204" pitchFamily="34" charset="0"/>
                <a:cs typeface="Times New Roman" panose="02020603050405020304" pitchFamily="18" charset="0"/>
              </a:rPr>
              <a:t>What do you think your audience knows?</a:t>
            </a:r>
            <a:endParaRPr lang="en-US" altLang="en-US" sz="280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buFont typeface="Arial" panose="020B0604020202020204" pitchFamily="34" charset="0"/>
              <a:buAutoNum type="arabicPeriod"/>
            </a:pPr>
            <a:r>
              <a:rPr lang="en-US" altLang="en-US">
                <a:latin typeface="Times New Roman" panose="02020603050405020304" pitchFamily="18" charset="0"/>
                <a:ea typeface="Calibri" panose="020F0502020204030204" pitchFamily="34" charset="0"/>
                <a:cs typeface="Times New Roman" panose="02020603050405020304" pitchFamily="18" charset="0"/>
              </a:rPr>
              <a:t>What do you think your audience needs to know?</a:t>
            </a:r>
            <a:endParaRPr lang="en-US" altLang="en-US" sz="280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Font typeface="Arial" panose="020B0604020202020204" pitchFamily="34" charset="0"/>
              <a:buAutoNum type="arabicPeriod"/>
            </a:pPr>
            <a:r>
              <a:rPr lang="en-US" altLang="en-US">
                <a:latin typeface="Times New Roman" panose="02020603050405020304" pitchFamily="18" charset="0"/>
                <a:ea typeface="Calibri" panose="020F0502020204030204" pitchFamily="34" charset="0"/>
                <a:cs typeface="Times New Roman" panose="02020603050405020304" pitchFamily="18" charset="0"/>
              </a:rPr>
              <a:t>What do you think the audience wants to know?</a:t>
            </a:r>
            <a:endParaRPr lang="en-US" altLang="en-US" sz="2800">
              <a:latin typeface="Calibri" panose="020F0502020204030204" pitchFamily="34" charset="0"/>
              <a:ea typeface="Calibri" panose="020F0502020204030204" pitchFamily="34" charset="0"/>
              <a:cs typeface="Times New Roman" panose="02020603050405020304" pitchFamily="18" charset="0"/>
            </a:endParaRPr>
          </a:p>
          <a:p>
            <a:endParaRPr lang="en-US" altLang="en-US">
              <a:ea typeface="Calibri" panose="020F0502020204030204" pitchFamily="34"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C98A6F24-49CB-9D6C-992E-A91F4C676559}"/>
              </a:ext>
            </a:extLst>
          </p:cNvPr>
          <p:cNvSpPr>
            <a:spLocks noGrp="1" noChangeArrowheads="1"/>
          </p:cNvSpPr>
          <p:nvPr>
            <p:ph type="title"/>
          </p:nvPr>
        </p:nvSpPr>
        <p:spPr/>
        <p:txBody>
          <a:bodyPr/>
          <a:lstStyle/>
          <a:p>
            <a:r>
              <a:rPr lang="en-US" altLang="en-US"/>
              <a:t>Purpose</a:t>
            </a:r>
          </a:p>
        </p:txBody>
      </p:sp>
      <p:sp>
        <p:nvSpPr>
          <p:cNvPr id="22531" name="Content Placeholder 2">
            <a:extLst>
              <a:ext uri="{FF2B5EF4-FFF2-40B4-BE49-F238E27FC236}">
                <a16:creationId xmlns:a16="http://schemas.microsoft.com/office/drawing/2014/main" id="{A749F6D1-3953-FC59-83E2-3A7E9B69EE5F}"/>
              </a:ext>
            </a:extLst>
          </p:cNvPr>
          <p:cNvSpPr>
            <a:spLocks noGrp="1" noChangeArrowheads="1"/>
          </p:cNvSpPr>
          <p:nvPr>
            <p:ph idx="1"/>
          </p:nvPr>
        </p:nvSpPr>
        <p:spPr>
          <a:xfrm>
            <a:off x="457200" y="1993900"/>
            <a:ext cx="8229600" cy="3111500"/>
          </a:xfrm>
        </p:spPr>
        <p:txBody>
          <a:bodyPr/>
          <a:lstStyle/>
          <a:p>
            <a:pPr algn="just">
              <a:lnSpc>
                <a:spcPct val="115000"/>
              </a:lnSpc>
              <a:buFont typeface="Arial" panose="020B0604020202020204" pitchFamily="34" charset="0"/>
              <a:buAutoNum type="arabicPeriod"/>
            </a:pPr>
            <a:r>
              <a:rPr lang="en-US" altLang="en-US">
                <a:latin typeface="Times New Roman" panose="02020603050405020304" pitchFamily="18" charset="0"/>
                <a:ea typeface="Calibri" panose="020F0502020204030204" pitchFamily="34" charset="0"/>
                <a:cs typeface="Times New Roman" panose="02020603050405020304" pitchFamily="18" charset="0"/>
              </a:rPr>
              <a:t>What is your purpose?</a:t>
            </a:r>
            <a:endParaRPr lang="en-US" altLang="en-US" sz="280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Font typeface="Arial" panose="020B0604020202020204" pitchFamily="34" charset="0"/>
              <a:buAutoNum type="arabicPeriod"/>
            </a:pPr>
            <a:r>
              <a:rPr lang="en-US" altLang="en-US">
                <a:latin typeface="Times New Roman" panose="02020603050405020304" pitchFamily="18" charset="0"/>
                <a:ea typeface="Calibri" panose="020F0502020204030204" pitchFamily="34" charset="0"/>
                <a:cs typeface="Times New Roman" panose="02020603050405020304" pitchFamily="18" charset="0"/>
              </a:rPr>
              <a:t>If you have a secondary purpose, what is it? (Hint: Think long term).</a:t>
            </a:r>
            <a:endParaRPr lang="en-US" altLang="en-US" sz="2800">
              <a:latin typeface="Calibri" panose="020F0502020204030204" pitchFamily="34" charset="0"/>
              <a:ea typeface="Calibri" panose="020F0502020204030204" pitchFamily="34" charset="0"/>
              <a:cs typeface="Times New Roman" panose="02020603050405020304" pitchFamily="18" charset="0"/>
            </a:endParaRPr>
          </a:p>
          <a:p>
            <a:endParaRPr lang="en-US" altLang="en-US">
              <a:ea typeface="Calibri" panose="020F0502020204030204" pitchFamily="34"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C5B3AC4C-C784-BBAE-7088-109F4B73B391}"/>
              </a:ext>
            </a:extLst>
          </p:cNvPr>
          <p:cNvSpPr>
            <a:spLocks noGrp="1" noChangeArrowheads="1"/>
          </p:cNvSpPr>
          <p:nvPr>
            <p:ph type="title"/>
          </p:nvPr>
        </p:nvSpPr>
        <p:spPr/>
        <p:txBody>
          <a:bodyPr/>
          <a:lstStyle/>
          <a:p>
            <a:r>
              <a:rPr lang="en-US" altLang="en-US"/>
              <a:t>Product</a:t>
            </a:r>
          </a:p>
        </p:txBody>
      </p:sp>
      <p:sp>
        <p:nvSpPr>
          <p:cNvPr id="23555" name="Content Placeholder 2">
            <a:extLst>
              <a:ext uri="{FF2B5EF4-FFF2-40B4-BE49-F238E27FC236}">
                <a16:creationId xmlns:a16="http://schemas.microsoft.com/office/drawing/2014/main" id="{8FADC06F-32BA-5E75-F57D-DBABADFA94D1}"/>
              </a:ext>
            </a:extLst>
          </p:cNvPr>
          <p:cNvSpPr>
            <a:spLocks noGrp="1" noChangeArrowheads="1"/>
          </p:cNvSpPr>
          <p:nvPr>
            <p:ph idx="1"/>
          </p:nvPr>
        </p:nvSpPr>
        <p:spPr/>
        <p:txBody>
          <a:bodyPr/>
          <a:lstStyle/>
          <a:p>
            <a:pPr algn="just">
              <a:lnSpc>
                <a:spcPct val="115000"/>
              </a:lnSpc>
              <a:buFont typeface="Arial" panose="020B0604020202020204" pitchFamily="34" charset="0"/>
              <a:buAutoNum type="arabicPeriod"/>
            </a:pPr>
            <a:r>
              <a:rPr lang="en-US" altLang="en-US">
                <a:latin typeface="Times New Roman" panose="02020603050405020304" pitchFamily="18" charset="0"/>
                <a:ea typeface="Calibri" panose="020F0502020204030204" pitchFamily="34" charset="0"/>
                <a:cs typeface="Times New Roman" panose="02020603050405020304" pitchFamily="18" charset="0"/>
              </a:rPr>
              <a:t>What product you might have chosen instead of a letter?</a:t>
            </a:r>
            <a:endParaRPr lang="en-US" altLang="en-US" sz="280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buFont typeface="Arial" panose="020B0604020202020204" pitchFamily="34" charset="0"/>
              <a:buAutoNum type="arabicPeriod"/>
            </a:pPr>
            <a:r>
              <a:rPr lang="en-US" altLang="en-US">
                <a:latin typeface="Times New Roman" panose="02020603050405020304" pitchFamily="18" charset="0"/>
                <a:ea typeface="Calibri" panose="020F0502020204030204" pitchFamily="34" charset="0"/>
                <a:cs typeface="Times New Roman" panose="02020603050405020304" pitchFamily="18" charset="0"/>
              </a:rPr>
              <a:t>Why have you chosen to use a letter? (Hint: You might have more than one reason.) </a:t>
            </a:r>
            <a:endParaRPr lang="en-US" altLang="en-US" sz="280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buFont typeface="Arial" panose="020B0604020202020204" pitchFamily="34" charset="0"/>
              <a:buAutoNum type="arabicPeriod"/>
            </a:pPr>
            <a:r>
              <a:rPr lang="en-US" altLang="en-US">
                <a:latin typeface="Times New Roman" panose="02020603050405020304" pitchFamily="18" charset="0"/>
                <a:ea typeface="Calibri" panose="020F0502020204030204" pitchFamily="34" charset="0"/>
                <a:cs typeface="Times New Roman" panose="02020603050405020304" pitchFamily="18" charset="0"/>
              </a:rPr>
              <a:t>What kind of tone will you use? </a:t>
            </a:r>
            <a:endParaRPr lang="en-US" altLang="en-US" sz="280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buFont typeface="Arial" panose="020B0604020202020204" pitchFamily="34" charset="0"/>
              <a:buAutoNum type="arabicPeriod"/>
            </a:pPr>
            <a:r>
              <a:rPr lang="en-US" altLang="en-US">
                <a:latin typeface="Times New Roman" panose="02020603050405020304" pitchFamily="18" charset="0"/>
                <a:ea typeface="Calibri" panose="020F0502020204030204" pitchFamily="34" charset="0"/>
                <a:cs typeface="Times New Roman" panose="02020603050405020304" pitchFamily="18" charset="0"/>
              </a:rPr>
              <a:t>How technical should your letter be? </a:t>
            </a:r>
            <a:endParaRPr lang="en-US" altLang="en-US" sz="2800">
              <a:latin typeface="Calibri" panose="020F0502020204030204" pitchFamily="34" charset="0"/>
              <a:ea typeface="Calibri" panose="020F0502020204030204" pitchFamily="34" charset="0"/>
              <a:cs typeface="Times New Roman" panose="02020603050405020304" pitchFamily="18" charset="0"/>
            </a:endParaRPr>
          </a:p>
          <a:p>
            <a:endParaRPr lang="en-US" altLang="en-US">
              <a:ea typeface="Calibri" panose="020F0502020204030204" pitchFamily="34"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28383</TotalTime>
  <Words>1625</Words>
  <Application>Microsoft Office PowerPoint</Application>
  <PresentationFormat>On-screen Show (16:10)</PresentationFormat>
  <Paragraphs>122</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Times New Roman</vt:lpstr>
      <vt:lpstr>Calibri</vt:lpstr>
      <vt:lpstr>Default Design</vt:lpstr>
      <vt:lpstr>PowerPoint Presentation</vt:lpstr>
      <vt:lpstr>Today’s Lecture</vt:lpstr>
      <vt:lpstr>PowerPoint Presentation</vt:lpstr>
      <vt:lpstr>CMAPP Model</vt:lpstr>
      <vt:lpstr>CMAPP Communication Model</vt:lpstr>
      <vt:lpstr>CMAPP Analysis</vt:lpstr>
      <vt:lpstr>CMAPP Analysis continued</vt:lpstr>
      <vt:lpstr>CMAPP Analysis continued</vt:lpstr>
      <vt:lpstr>CMAPP Analysis continued</vt:lpstr>
      <vt:lpstr>CMAPP Analysis continued</vt:lpstr>
      <vt:lpstr>Nature of CMAPP</vt:lpstr>
      <vt:lpstr>Read this!</vt:lpstr>
      <vt:lpstr>Now answer these questions!</vt:lpstr>
      <vt:lpstr>Applying CMAPP:</vt:lpstr>
      <vt:lpstr>Another example:</vt:lpstr>
      <vt:lpstr>PowerPoint Presentation</vt:lpstr>
      <vt:lpstr>Context</vt:lpstr>
      <vt:lpstr>Message</vt:lpstr>
      <vt:lpstr>Audience</vt:lpstr>
      <vt:lpstr>Purpose</vt:lpstr>
      <vt:lpstr>Product</vt:lpstr>
    </vt:vector>
  </TitlesOfParts>
  <Company>INSA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Structures CSC 102</dc:title>
  <dc:creator>Rasheed</dc:creator>
  <cp:lastModifiedBy>Dawood Akbar</cp:lastModifiedBy>
  <cp:revision>469</cp:revision>
  <dcterms:created xsi:type="dcterms:W3CDTF">2012-03-24T09:18:04Z</dcterms:created>
  <dcterms:modified xsi:type="dcterms:W3CDTF">2026-06-16T19:13:28Z</dcterms:modified>
</cp:coreProperties>
</file>