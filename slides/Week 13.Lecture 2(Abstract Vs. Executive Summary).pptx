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0" r:id="rId2"/>
  </p:sldMasterIdLst>
  <p:notesMasterIdLst>
    <p:notesMasterId r:id="rId15"/>
  </p:notesMasterIdLst>
  <p:sldIdLst>
    <p:sldId id="303" r:id="rId3"/>
    <p:sldId id="257" r:id="rId4"/>
    <p:sldId id="258" r:id="rId5"/>
    <p:sldId id="259" r:id="rId6"/>
    <p:sldId id="261" r:id="rId7"/>
    <p:sldId id="262" r:id="rId8"/>
    <p:sldId id="263" r:id="rId9"/>
    <p:sldId id="264" r:id="rId10"/>
    <p:sldId id="304" r:id="rId11"/>
    <p:sldId id="305" r:id="rId12"/>
    <p:sldId id="306" r:id="rId13"/>
    <p:sldId id="26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3DE1E-27F1-4ACC-A9E7-2857EEBF5E5C}" v="21" dt="2026-04-17T04:01:05.1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57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a Tahir" userId="f44931ca-6f51-4a43-bfc6-32a687aa5826" providerId="ADAL" clId="{24B98FCD-861F-42BA-8942-A62C06C41194}"/>
    <pc:docChg chg="undo custSel addSld modSld">
      <pc:chgData name="Samia Tahir" userId="f44931ca-6f51-4a43-bfc6-32a687aa5826" providerId="ADAL" clId="{24B98FCD-861F-42BA-8942-A62C06C41194}" dt="2026-04-17T04:01:09.995" v="297" actId="27636"/>
      <pc:docMkLst>
        <pc:docMk/>
      </pc:docMkLst>
      <pc:sldChg chg="modSp mod">
        <pc:chgData name="Samia Tahir" userId="f44931ca-6f51-4a43-bfc6-32a687aa5826" providerId="ADAL" clId="{24B98FCD-861F-42BA-8942-A62C06C41194}" dt="2026-04-13T08:10:10.013" v="2" actId="14100"/>
        <pc:sldMkLst>
          <pc:docMk/>
          <pc:sldMk cId="1989892709" sldId="257"/>
        </pc:sldMkLst>
        <pc:spChg chg="mod">
          <ac:chgData name="Samia Tahir" userId="f44931ca-6f51-4a43-bfc6-32a687aa5826" providerId="ADAL" clId="{24B98FCD-861F-42BA-8942-A62C06C41194}" dt="2026-04-13T08:10:10.013" v="2" actId="14100"/>
          <ac:spMkLst>
            <pc:docMk/>
            <pc:sldMk cId="1989892709" sldId="257"/>
            <ac:spMk id="2" creationId="{00000000-0000-0000-0000-000000000000}"/>
          </ac:spMkLst>
        </pc:spChg>
      </pc:sldChg>
      <pc:sldChg chg="modSp mod">
        <pc:chgData name="Samia Tahir" userId="f44931ca-6f51-4a43-bfc6-32a687aa5826" providerId="ADAL" clId="{24B98FCD-861F-42BA-8942-A62C06C41194}" dt="2026-04-14T03:48:24.179" v="148" actId="20577"/>
        <pc:sldMkLst>
          <pc:docMk/>
          <pc:sldMk cId="1378492071" sldId="258"/>
        </pc:sldMkLst>
        <pc:spChg chg="mod">
          <ac:chgData name="Samia Tahir" userId="f44931ca-6f51-4a43-bfc6-32a687aa5826" providerId="ADAL" clId="{24B98FCD-861F-42BA-8942-A62C06C41194}" dt="2026-04-14T03:48:24.179" v="148" actId="20577"/>
          <ac:spMkLst>
            <pc:docMk/>
            <pc:sldMk cId="1378492071" sldId="258"/>
            <ac:spMk id="2" creationId="{00000000-0000-0000-0000-000000000000}"/>
          </ac:spMkLst>
        </pc:spChg>
      </pc:sldChg>
      <pc:sldChg chg="modSp mod">
        <pc:chgData name="Samia Tahir" userId="f44931ca-6f51-4a43-bfc6-32a687aa5826" providerId="ADAL" clId="{24B98FCD-861F-42BA-8942-A62C06C41194}" dt="2026-04-14T03:47:56.788" v="114" actId="20577"/>
        <pc:sldMkLst>
          <pc:docMk/>
          <pc:sldMk cId="2427894359" sldId="262"/>
        </pc:sldMkLst>
        <pc:spChg chg="mod">
          <ac:chgData name="Samia Tahir" userId="f44931ca-6f51-4a43-bfc6-32a687aa5826" providerId="ADAL" clId="{24B98FCD-861F-42BA-8942-A62C06C41194}" dt="2026-04-14T03:47:56.788" v="114" actId="20577"/>
          <ac:spMkLst>
            <pc:docMk/>
            <pc:sldMk cId="2427894359" sldId="262"/>
            <ac:spMk id="2" creationId="{00000000-0000-0000-0000-000000000000}"/>
          </ac:spMkLst>
        </pc:spChg>
      </pc:sldChg>
      <pc:sldChg chg="modSp mod">
        <pc:chgData name="Samia Tahir" userId="f44931ca-6f51-4a43-bfc6-32a687aa5826" providerId="ADAL" clId="{24B98FCD-861F-42BA-8942-A62C06C41194}" dt="2026-04-13T08:13:27.294" v="45" actId="20577"/>
        <pc:sldMkLst>
          <pc:docMk/>
          <pc:sldMk cId="1437516228" sldId="264"/>
        </pc:sldMkLst>
        <pc:spChg chg="mod">
          <ac:chgData name="Samia Tahir" userId="f44931ca-6f51-4a43-bfc6-32a687aa5826" providerId="ADAL" clId="{24B98FCD-861F-42BA-8942-A62C06C41194}" dt="2026-04-13T08:13:27.294" v="45" actId="20577"/>
          <ac:spMkLst>
            <pc:docMk/>
            <pc:sldMk cId="1437516228" sldId="264"/>
            <ac:spMk id="2" creationId="{00000000-0000-0000-0000-000000000000}"/>
          </ac:spMkLst>
        </pc:spChg>
      </pc:sldChg>
      <pc:sldChg chg="modSp mod">
        <pc:chgData name="Samia Tahir" userId="f44931ca-6f51-4a43-bfc6-32a687aa5826" providerId="ADAL" clId="{24B98FCD-861F-42BA-8942-A62C06C41194}" dt="2026-04-13T08:10:04.146" v="1" actId="20577"/>
        <pc:sldMkLst>
          <pc:docMk/>
          <pc:sldMk cId="0" sldId="303"/>
        </pc:sldMkLst>
        <pc:spChg chg="mod">
          <ac:chgData name="Samia Tahir" userId="f44931ca-6f51-4a43-bfc6-32a687aa5826" providerId="ADAL" clId="{24B98FCD-861F-42BA-8942-A62C06C41194}" dt="2026-04-13T08:10:04.146" v="1" actId="20577"/>
          <ac:spMkLst>
            <pc:docMk/>
            <pc:sldMk cId="0" sldId="303"/>
            <ac:spMk id="3089" creationId="{BCB40F58-1EA3-63F7-E07B-EF9A95367608}"/>
          </ac:spMkLst>
        </pc:spChg>
      </pc:sldChg>
      <pc:sldChg chg="modSp new mod">
        <pc:chgData name="Samia Tahir" userId="f44931ca-6f51-4a43-bfc6-32a687aa5826" providerId="ADAL" clId="{24B98FCD-861F-42BA-8942-A62C06C41194}" dt="2026-04-17T04:00:36.883" v="287" actId="255"/>
        <pc:sldMkLst>
          <pc:docMk/>
          <pc:sldMk cId="802174757" sldId="304"/>
        </pc:sldMkLst>
        <pc:spChg chg="mod">
          <ac:chgData name="Samia Tahir" userId="f44931ca-6f51-4a43-bfc6-32a687aa5826" providerId="ADAL" clId="{24B98FCD-861F-42BA-8942-A62C06C41194}" dt="2026-04-17T04:00:36.883" v="287" actId="255"/>
          <ac:spMkLst>
            <pc:docMk/>
            <pc:sldMk cId="802174757" sldId="304"/>
            <ac:spMk id="2" creationId="{81F0DEDA-5BBD-4B13-26BA-0665A00251B0}"/>
          </ac:spMkLst>
        </pc:spChg>
        <pc:spChg chg="mod">
          <ac:chgData name="Samia Tahir" userId="f44931ca-6f51-4a43-bfc6-32a687aa5826" providerId="ADAL" clId="{24B98FCD-861F-42BA-8942-A62C06C41194}" dt="2026-04-14T03:50:25.569" v="189" actId="20577"/>
          <ac:spMkLst>
            <pc:docMk/>
            <pc:sldMk cId="802174757" sldId="304"/>
            <ac:spMk id="3" creationId="{9A38B67B-41B8-90BC-28CC-A156C23636AB}"/>
          </ac:spMkLst>
        </pc:spChg>
      </pc:sldChg>
      <pc:sldChg chg="modSp new mod">
        <pc:chgData name="Samia Tahir" userId="f44931ca-6f51-4a43-bfc6-32a687aa5826" providerId="ADAL" clId="{24B98FCD-861F-42BA-8942-A62C06C41194}" dt="2026-04-17T04:01:09.995" v="297" actId="27636"/>
        <pc:sldMkLst>
          <pc:docMk/>
          <pc:sldMk cId="1475293161" sldId="305"/>
        </pc:sldMkLst>
        <pc:spChg chg="mod">
          <ac:chgData name="Samia Tahir" userId="f44931ca-6f51-4a43-bfc6-32a687aa5826" providerId="ADAL" clId="{24B98FCD-861F-42BA-8942-A62C06C41194}" dt="2026-04-17T04:01:09.995" v="297" actId="27636"/>
          <ac:spMkLst>
            <pc:docMk/>
            <pc:sldMk cId="1475293161" sldId="305"/>
            <ac:spMk id="2" creationId="{FC3D6765-2146-DF34-9830-9821100FFB0F}"/>
          </ac:spMkLst>
        </pc:spChg>
        <pc:spChg chg="mod">
          <ac:chgData name="Samia Tahir" userId="f44931ca-6f51-4a43-bfc6-32a687aa5826" providerId="ADAL" clId="{24B98FCD-861F-42BA-8942-A62C06C41194}" dt="2026-04-17T04:00:58.935" v="290" actId="14100"/>
          <ac:spMkLst>
            <pc:docMk/>
            <pc:sldMk cId="1475293161" sldId="305"/>
            <ac:spMk id="3" creationId="{B4567847-162C-9FE7-56D7-581858D0ACAF}"/>
          </ac:spMkLst>
        </pc:spChg>
      </pc:sldChg>
      <pc:sldChg chg="addSp delSp modSp new mod">
        <pc:chgData name="Samia Tahir" userId="f44931ca-6f51-4a43-bfc6-32a687aa5826" providerId="ADAL" clId="{24B98FCD-861F-42BA-8942-A62C06C41194}" dt="2026-04-14T03:52:18.054" v="273" actId="14100"/>
        <pc:sldMkLst>
          <pc:docMk/>
          <pc:sldMk cId="2578758623" sldId="306"/>
        </pc:sldMkLst>
        <pc:spChg chg="mod">
          <ac:chgData name="Samia Tahir" userId="f44931ca-6f51-4a43-bfc6-32a687aa5826" providerId="ADAL" clId="{24B98FCD-861F-42BA-8942-A62C06C41194}" dt="2026-04-14T03:52:00.679" v="256" actId="20577"/>
          <ac:spMkLst>
            <pc:docMk/>
            <pc:sldMk cId="2578758623" sldId="306"/>
            <ac:spMk id="3" creationId="{A80DBD63-6A04-BFE2-4F27-6E482CC2CCEE}"/>
          </ac:spMkLst>
        </pc:spChg>
        <pc:spChg chg="add mod">
          <ac:chgData name="Samia Tahir" userId="f44931ca-6f51-4a43-bfc6-32a687aa5826" providerId="ADAL" clId="{24B98FCD-861F-42BA-8942-A62C06C41194}" dt="2026-04-14T03:52:18.054" v="273" actId="14100"/>
          <ac:spMkLst>
            <pc:docMk/>
            <pc:sldMk cId="2578758623" sldId="306"/>
            <ac:spMk id="4" creationId="{96F62C95-0495-4534-F063-F4766D0AA3F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3D6A1-0DC4-426B-B5BA-1A946E8A729F}" type="datetimeFigureOut">
              <a:rPr lang="en-GB" smtClean="0"/>
              <a:t>17/04/2026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E0D9B-2772-4299-B63E-6835ABF7B227}" type="slidenum">
              <a:rPr lang="en-GB" smtClean="0"/>
              <a:t>‹#›</a:t>
            </a:fld>
            <a:endParaRPr lang="en-GB"/>
          </a:p>
        </p:txBody>
      </p:sp>
    </p:spTree>
    <p:extLst>
      <p:ext uri="{BB962C8B-B14F-4D97-AF65-F5344CB8AC3E}">
        <p14:creationId xmlns:p14="http://schemas.microsoft.com/office/powerpoint/2010/main" val="87205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4/17/2026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4E154B5-4E24-FA95-8BF7-CB79DB7B6B5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5EDC472-CC8C-9FC7-B279-B72B3327108A}"/>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0E66C9D5-022E-460D-2C81-D0DF5574BE43}"/>
              </a:ext>
            </a:extLst>
          </p:cNvPr>
          <p:cNvSpPr>
            <a:spLocks noGrp="1" noChangeArrowheads="1"/>
          </p:cNvSpPr>
          <p:nvPr>
            <p:ph type="sldNum" sz="quarter" idx="12"/>
          </p:nvPr>
        </p:nvSpPr>
        <p:spPr>
          <a:ln/>
        </p:spPr>
        <p:txBody>
          <a:bodyPr/>
          <a:lstStyle>
            <a:lvl1pPr>
              <a:defRPr/>
            </a:lvl1pPr>
          </a:lstStyle>
          <a:p>
            <a:pPr>
              <a:defRPr/>
            </a:pPr>
            <a:fld id="{F1F806D6-F3E1-40A4-97F5-EBC3284F8014}" type="slidenum">
              <a:rPr lang="en-US" altLang="en-US"/>
              <a:pPr>
                <a:defRPr/>
              </a:pPr>
              <a:t>‹#›</a:t>
            </a:fld>
            <a:endParaRPr lang="en-US" altLang="en-US"/>
          </a:p>
        </p:txBody>
      </p:sp>
    </p:spTree>
    <p:extLst>
      <p:ext uri="{BB962C8B-B14F-4D97-AF65-F5344CB8AC3E}">
        <p14:creationId xmlns:p14="http://schemas.microsoft.com/office/powerpoint/2010/main" val="10606666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82CB8A5-B109-7C75-637B-6854711DD9C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E79A9F7-C987-2EE8-703A-FBB7511AC079}"/>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3FAB7D78-E53A-B340-307D-6764A877B885}"/>
              </a:ext>
            </a:extLst>
          </p:cNvPr>
          <p:cNvSpPr>
            <a:spLocks noGrp="1" noChangeArrowheads="1"/>
          </p:cNvSpPr>
          <p:nvPr>
            <p:ph type="sldNum" sz="quarter" idx="12"/>
          </p:nvPr>
        </p:nvSpPr>
        <p:spPr>
          <a:ln/>
        </p:spPr>
        <p:txBody>
          <a:bodyPr/>
          <a:lstStyle>
            <a:lvl1pPr>
              <a:defRPr/>
            </a:lvl1pPr>
          </a:lstStyle>
          <a:p>
            <a:pPr>
              <a:defRPr/>
            </a:pPr>
            <a:fld id="{7238261B-ADB2-4B60-8296-0B5DC772F964}" type="slidenum">
              <a:rPr lang="en-US" altLang="en-US"/>
              <a:pPr>
                <a:defRPr/>
              </a:pPr>
              <a:t>‹#›</a:t>
            </a:fld>
            <a:endParaRPr lang="en-US" altLang="en-US"/>
          </a:p>
        </p:txBody>
      </p:sp>
    </p:spTree>
    <p:extLst>
      <p:ext uri="{BB962C8B-B14F-4D97-AF65-F5344CB8AC3E}">
        <p14:creationId xmlns:p14="http://schemas.microsoft.com/office/powerpoint/2010/main" val="4130498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a:extLst>
              <a:ext uri="{FF2B5EF4-FFF2-40B4-BE49-F238E27FC236}">
                <a16:creationId xmlns:a16="http://schemas.microsoft.com/office/drawing/2014/main" id="{331356B2-76C6-DE2A-661F-7AE1902D9B1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E821C7F-74C6-34C1-7FEF-5203875B97AB}"/>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607DF091-BF91-5985-1BB9-A7E25A394834}"/>
              </a:ext>
            </a:extLst>
          </p:cNvPr>
          <p:cNvSpPr>
            <a:spLocks noGrp="1" noChangeArrowheads="1"/>
          </p:cNvSpPr>
          <p:nvPr>
            <p:ph type="sldNum" sz="quarter" idx="12"/>
          </p:nvPr>
        </p:nvSpPr>
        <p:spPr>
          <a:ln/>
        </p:spPr>
        <p:txBody>
          <a:bodyPr/>
          <a:lstStyle>
            <a:lvl1pPr>
              <a:defRPr/>
            </a:lvl1pPr>
          </a:lstStyle>
          <a:p>
            <a:pPr>
              <a:defRPr/>
            </a:pPr>
            <a:fld id="{269F135F-226A-44F1-8458-653A731E376F}" type="slidenum">
              <a:rPr lang="en-US" altLang="en-US"/>
              <a:pPr>
                <a:defRPr/>
              </a:pPr>
              <a:t>‹#›</a:t>
            </a:fld>
            <a:endParaRPr lang="en-US" altLang="en-US"/>
          </a:p>
        </p:txBody>
      </p:sp>
    </p:spTree>
    <p:extLst>
      <p:ext uri="{BB962C8B-B14F-4D97-AF65-F5344CB8AC3E}">
        <p14:creationId xmlns:p14="http://schemas.microsoft.com/office/powerpoint/2010/main" val="854538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9D55432-9238-C145-A2DD-D55701BB44E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5C7C3BB-93A8-D34D-DFE7-0D2A340A8073}"/>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EEBE2E29-01C0-B088-D3C6-1E6D352D2938}"/>
              </a:ext>
            </a:extLst>
          </p:cNvPr>
          <p:cNvSpPr>
            <a:spLocks noGrp="1" noChangeArrowheads="1"/>
          </p:cNvSpPr>
          <p:nvPr>
            <p:ph type="sldNum" sz="quarter" idx="12"/>
          </p:nvPr>
        </p:nvSpPr>
        <p:spPr>
          <a:ln/>
        </p:spPr>
        <p:txBody>
          <a:bodyPr/>
          <a:lstStyle>
            <a:lvl1pPr>
              <a:defRPr/>
            </a:lvl1pPr>
          </a:lstStyle>
          <a:p>
            <a:pPr>
              <a:defRPr/>
            </a:pPr>
            <a:fld id="{C6D575AB-F552-46A2-A8A8-95E0E4BC1D10}" type="slidenum">
              <a:rPr lang="en-US" altLang="en-US"/>
              <a:pPr>
                <a:defRPr/>
              </a:pPr>
              <a:t>‹#›</a:t>
            </a:fld>
            <a:endParaRPr lang="en-US" altLang="en-US"/>
          </a:p>
        </p:txBody>
      </p:sp>
    </p:spTree>
    <p:extLst>
      <p:ext uri="{BB962C8B-B14F-4D97-AF65-F5344CB8AC3E}">
        <p14:creationId xmlns:p14="http://schemas.microsoft.com/office/powerpoint/2010/main" val="2890448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C8AF93C-B026-B33A-D20F-0106A8CD74C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7FCDE37-C193-9435-D08C-ADE7CDD0AB2D}"/>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9" name="Rectangle 6">
            <a:extLst>
              <a:ext uri="{FF2B5EF4-FFF2-40B4-BE49-F238E27FC236}">
                <a16:creationId xmlns:a16="http://schemas.microsoft.com/office/drawing/2014/main" id="{F4899C5D-3ABE-A07E-B685-3C8B860C3E97}"/>
              </a:ext>
            </a:extLst>
          </p:cNvPr>
          <p:cNvSpPr>
            <a:spLocks noGrp="1" noChangeArrowheads="1"/>
          </p:cNvSpPr>
          <p:nvPr>
            <p:ph type="sldNum" sz="quarter" idx="12"/>
          </p:nvPr>
        </p:nvSpPr>
        <p:spPr>
          <a:ln/>
        </p:spPr>
        <p:txBody>
          <a:bodyPr/>
          <a:lstStyle>
            <a:lvl1pPr>
              <a:defRPr/>
            </a:lvl1pPr>
          </a:lstStyle>
          <a:p>
            <a:pPr>
              <a:defRPr/>
            </a:pPr>
            <a:fld id="{8709DA35-48D7-41C5-B190-1F948FADD7B4}" type="slidenum">
              <a:rPr lang="en-US" altLang="en-US"/>
              <a:pPr>
                <a:defRPr/>
              </a:pPr>
              <a:t>‹#›</a:t>
            </a:fld>
            <a:endParaRPr lang="en-US" altLang="en-US"/>
          </a:p>
        </p:txBody>
      </p:sp>
    </p:spTree>
    <p:extLst>
      <p:ext uri="{BB962C8B-B14F-4D97-AF65-F5344CB8AC3E}">
        <p14:creationId xmlns:p14="http://schemas.microsoft.com/office/powerpoint/2010/main" val="22505039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B11A60D-0913-5AB3-D40A-24C815B44C8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7A5CF291-710F-38DD-A3EF-047F2AA5FADE}"/>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5" name="Rectangle 6">
            <a:extLst>
              <a:ext uri="{FF2B5EF4-FFF2-40B4-BE49-F238E27FC236}">
                <a16:creationId xmlns:a16="http://schemas.microsoft.com/office/drawing/2014/main" id="{93785C3C-BC29-5973-A99E-6E15B585D21D}"/>
              </a:ext>
            </a:extLst>
          </p:cNvPr>
          <p:cNvSpPr>
            <a:spLocks noGrp="1" noChangeArrowheads="1"/>
          </p:cNvSpPr>
          <p:nvPr>
            <p:ph type="sldNum" sz="quarter" idx="12"/>
          </p:nvPr>
        </p:nvSpPr>
        <p:spPr>
          <a:ln/>
        </p:spPr>
        <p:txBody>
          <a:bodyPr/>
          <a:lstStyle>
            <a:lvl1pPr>
              <a:defRPr/>
            </a:lvl1pPr>
          </a:lstStyle>
          <a:p>
            <a:pPr>
              <a:defRPr/>
            </a:pPr>
            <a:fld id="{40CA9E80-93FA-4DB9-8F44-C5B2C2B4F395}" type="slidenum">
              <a:rPr lang="en-US" altLang="en-US"/>
              <a:pPr>
                <a:defRPr/>
              </a:pPr>
              <a:t>‹#›</a:t>
            </a:fld>
            <a:endParaRPr lang="en-US" altLang="en-US"/>
          </a:p>
        </p:txBody>
      </p:sp>
    </p:spTree>
    <p:extLst>
      <p:ext uri="{BB962C8B-B14F-4D97-AF65-F5344CB8AC3E}">
        <p14:creationId xmlns:p14="http://schemas.microsoft.com/office/powerpoint/2010/main" val="36626145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FDC0A7-A8F1-6CA3-671E-AE93BEA4C2B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9EB713BF-D806-E605-CBBD-D71875DDB21B}"/>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4" name="Rectangle 6">
            <a:extLst>
              <a:ext uri="{FF2B5EF4-FFF2-40B4-BE49-F238E27FC236}">
                <a16:creationId xmlns:a16="http://schemas.microsoft.com/office/drawing/2014/main" id="{BFB79D01-9D2D-C76B-34FE-E3B7BC25B9F2}"/>
              </a:ext>
            </a:extLst>
          </p:cNvPr>
          <p:cNvSpPr>
            <a:spLocks noGrp="1" noChangeArrowheads="1"/>
          </p:cNvSpPr>
          <p:nvPr>
            <p:ph type="sldNum" sz="quarter" idx="12"/>
          </p:nvPr>
        </p:nvSpPr>
        <p:spPr>
          <a:ln/>
        </p:spPr>
        <p:txBody>
          <a:bodyPr/>
          <a:lstStyle>
            <a:lvl1pPr>
              <a:defRPr/>
            </a:lvl1pPr>
          </a:lstStyle>
          <a:p>
            <a:pPr>
              <a:defRPr/>
            </a:pPr>
            <a:fld id="{523E430A-D9F6-4AE1-BF25-EF60984EBF17}" type="slidenum">
              <a:rPr lang="en-US" altLang="en-US"/>
              <a:pPr>
                <a:defRPr/>
              </a:pPr>
              <a:t>‹#›</a:t>
            </a:fld>
            <a:endParaRPr lang="en-US" altLang="en-US"/>
          </a:p>
        </p:txBody>
      </p:sp>
    </p:spTree>
    <p:extLst>
      <p:ext uri="{BB962C8B-B14F-4D97-AF65-F5344CB8AC3E}">
        <p14:creationId xmlns:p14="http://schemas.microsoft.com/office/powerpoint/2010/main" val="3525967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a:extLst>
              <a:ext uri="{FF2B5EF4-FFF2-40B4-BE49-F238E27FC236}">
                <a16:creationId xmlns:a16="http://schemas.microsoft.com/office/drawing/2014/main" id="{544ED96D-4F4D-59DB-6416-ADCB5438318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7CA92F1-8BBB-93B4-A8D3-63817F588ED2}"/>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08A514CC-AFAA-0E40-B38B-6F9F5CAE10D2}"/>
              </a:ext>
            </a:extLst>
          </p:cNvPr>
          <p:cNvSpPr>
            <a:spLocks noGrp="1" noChangeArrowheads="1"/>
          </p:cNvSpPr>
          <p:nvPr>
            <p:ph type="sldNum" sz="quarter" idx="12"/>
          </p:nvPr>
        </p:nvSpPr>
        <p:spPr>
          <a:ln/>
        </p:spPr>
        <p:txBody>
          <a:bodyPr/>
          <a:lstStyle>
            <a:lvl1pPr>
              <a:defRPr/>
            </a:lvl1pPr>
          </a:lstStyle>
          <a:p>
            <a:pPr>
              <a:defRPr/>
            </a:pPr>
            <a:fld id="{AB789475-B092-41C7-A913-7AF1735FE498}" type="slidenum">
              <a:rPr lang="en-US" altLang="en-US"/>
              <a:pPr>
                <a:defRPr/>
              </a:pPr>
              <a:t>‹#›</a:t>
            </a:fld>
            <a:endParaRPr lang="en-US" altLang="en-US"/>
          </a:p>
        </p:txBody>
      </p:sp>
    </p:spTree>
    <p:extLst>
      <p:ext uri="{BB962C8B-B14F-4D97-AF65-F5344CB8AC3E}">
        <p14:creationId xmlns:p14="http://schemas.microsoft.com/office/powerpoint/2010/main" val="12494480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a:extLst>
              <a:ext uri="{FF2B5EF4-FFF2-40B4-BE49-F238E27FC236}">
                <a16:creationId xmlns:a16="http://schemas.microsoft.com/office/drawing/2014/main" id="{17F666F0-08E5-8F70-E9C7-E257395EE8F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42F777C-A731-04B7-A3C2-E66F3E209E62}"/>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F7AE788B-4902-62B6-5AB6-AEF6D46AD36D}"/>
              </a:ext>
            </a:extLst>
          </p:cNvPr>
          <p:cNvSpPr>
            <a:spLocks noGrp="1" noChangeArrowheads="1"/>
          </p:cNvSpPr>
          <p:nvPr>
            <p:ph type="sldNum" sz="quarter" idx="12"/>
          </p:nvPr>
        </p:nvSpPr>
        <p:spPr>
          <a:ln/>
        </p:spPr>
        <p:txBody>
          <a:bodyPr/>
          <a:lstStyle>
            <a:lvl1pPr>
              <a:defRPr/>
            </a:lvl1pPr>
          </a:lstStyle>
          <a:p>
            <a:pPr>
              <a:defRPr/>
            </a:pPr>
            <a:fld id="{B7CF7DF6-F3E9-4ED2-91B7-846ADD0ABA90}" type="slidenum">
              <a:rPr lang="en-US" altLang="en-US"/>
              <a:pPr>
                <a:defRPr/>
              </a:pPr>
              <a:t>‹#›</a:t>
            </a:fld>
            <a:endParaRPr lang="en-US" altLang="en-US"/>
          </a:p>
        </p:txBody>
      </p:sp>
    </p:spTree>
    <p:extLst>
      <p:ext uri="{BB962C8B-B14F-4D97-AF65-F5344CB8AC3E}">
        <p14:creationId xmlns:p14="http://schemas.microsoft.com/office/powerpoint/2010/main" val="764622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3F64EDB-5394-BB0E-C7E6-69E794D396E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A0BCA89-B9C1-CC88-1A7E-E1C3C35BC89C}"/>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927162D1-5CD7-6B52-4214-44D33CAAF631}"/>
              </a:ext>
            </a:extLst>
          </p:cNvPr>
          <p:cNvSpPr>
            <a:spLocks noGrp="1" noChangeArrowheads="1"/>
          </p:cNvSpPr>
          <p:nvPr>
            <p:ph type="sldNum" sz="quarter" idx="12"/>
          </p:nvPr>
        </p:nvSpPr>
        <p:spPr>
          <a:ln/>
        </p:spPr>
        <p:txBody>
          <a:bodyPr/>
          <a:lstStyle>
            <a:lvl1pPr>
              <a:defRPr/>
            </a:lvl1pPr>
          </a:lstStyle>
          <a:p>
            <a:pPr>
              <a:defRPr/>
            </a:pPr>
            <a:fld id="{26DF3EF5-8E36-49FC-A497-2F9C0528A686}" type="slidenum">
              <a:rPr lang="en-US" altLang="en-US"/>
              <a:pPr>
                <a:defRPr/>
              </a:pPr>
              <a:t>‹#›</a:t>
            </a:fld>
            <a:endParaRPr lang="en-US" altLang="en-US"/>
          </a:p>
        </p:txBody>
      </p:sp>
    </p:spTree>
    <p:extLst>
      <p:ext uri="{BB962C8B-B14F-4D97-AF65-F5344CB8AC3E}">
        <p14:creationId xmlns:p14="http://schemas.microsoft.com/office/powerpoint/2010/main" val="11933031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763A287-ABF5-EA3A-C530-513A296498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04D1EF6-0B4F-B099-C86F-D125E0DF5219}"/>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8958AD24-68D5-8FEF-9D14-ED4B8045AF93}"/>
              </a:ext>
            </a:extLst>
          </p:cNvPr>
          <p:cNvSpPr>
            <a:spLocks noGrp="1" noChangeArrowheads="1"/>
          </p:cNvSpPr>
          <p:nvPr>
            <p:ph type="sldNum" sz="quarter" idx="12"/>
          </p:nvPr>
        </p:nvSpPr>
        <p:spPr>
          <a:ln/>
        </p:spPr>
        <p:txBody>
          <a:bodyPr/>
          <a:lstStyle>
            <a:lvl1pPr>
              <a:defRPr/>
            </a:lvl1pPr>
          </a:lstStyle>
          <a:p>
            <a:pPr>
              <a:defRPr/>
            </a:pPr>
            <a:fld id="{8B438961-E344-402A-B555-7251458FB316}" type="slidenum">
              <a:rPr lang="en-US" altLang="en-US"/>
              <a:pPr>
                <a:defRPr/>
              </a:pPr>
              <a:t>‹#›</a:t>
            </a:fld>
            <a:endParaRPr lang="en-US" altLang="en-US"/>
          </a:p>
        </p:txBody>
      </p:sp>
    </p:spTree>
    <p:extLst>
      <p:ext uri="{BB962C8B-B14F-4D97-AF65-F5344CB8AC3E}">
        <p14:creationId xmlns:p14="http://schemas.microsoft.com/office/powerpoint/2010/main" val="45337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4/17/2026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04A4670-C714-218E-7DAC-5D86EF6DF70D}"/>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561EA04-0B35-2DDF-A826-157A060EE9A9}"/>
              </a:ext>
            </a:extLst>
          </p:cNvPr>
          <p:cNvSpPr>
            <a:spLocks noGrp="1" noChangeArrowheads="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9092" name="Rectangle 4">
            <a:extLst>
              <a:ext uri="{FF2B5EF4-FFF2-40B4-BE49-F238E27FC236}">
                <a16:creationId xmlns:a16="http://schemas.microsoft.com/office/drawing/2014/main" id="{7CC5BAC6-1D68-B81F-EDD7-43D29DE288DD}"/>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50">
                <a:latin typeface="Arial" charset="0"/>
                <a:cs typeface="Arial" charset="0"/>
              </a:defRPr>
            </a:lvl1pPr>
          </a:lstStyle>
          <a:p>
            <a:pPr>
              <a:defRPr/>
            </a:pPr>
            <a:endParaRPr lang="en-US"/>
          </a:p>
        </p:txBody>
      </p:sp>
      <p:sp>
        <p:nvSpPr>
          <p:cNvPr id="89093" name="Rectangle 5">
            <a:extLst>
              <a:ext uri="{FF2B5EF4-FFF2-40B4-BE49-F238E27FC236}">
                <a16:creationId xmlns:a16="http://schemas.microsoft.com/office/drawing/2014/main" id="{24B2F25D-1409-3571-AD09-F9A4C10909A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cs typeface="Arial" charset="0"/>
              </a:defRPr>
            </a:lvl1pPr>
          </a:lstStyle>
          <a:p>
            <a:pPr>
              <a:defRPr/>
            </a:pPr>
            <a:r>
              <a:rPr lang="en-US"/>
              <a:t>Discrete Structures</a:t>
            </a:r>
          </a:p>
        </p:txBody>
      </p:sp>
      <p:sp>
        <p:nvSpPr>
          <p:cNvPr id="89094" name="Rectangle 6">
            <a:extLst>
              <a:ext uri="{FF2B5EF4-FFF2-40B4-BE49-F238E27FC236}">
                <a16:creationId xmlns:a16="http://schemas.microsoft.com/office/drawing/2014/main" id="{8836B96D-AD9D-FA34-B719-3D9E8E3A5E4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50"/>
            </a:lvl1pPr>
          </a:lstStyle>
          <a:p>
            <a:pPr>
              <a:defRPr/>
            </a:pPr>
            <a:fld id="{B24B36CE-3D14-4C40-94E3-84B44F25C7B8}" type="slidenum">
              <a:rPr lang="en-US" altLang="en-US"/>
              <a:pPr>
                <a:defRPr/>
              </a:pPr>
              <a:t>‹#›</a:t>
            </a:fld>
            <a:endParaRPr lang="en-US" altLang="en-US"/>
          </a:p>
        </p:txBody>
      </p:sp>
    </p:spTree>
    <p:extLst>
      <p:ext uri="{BB962C8B-B14F-4D97-AF65-F5344CB8AC3E}">
        <p14:creationId xmlns:p14="http://schemas.microsoft.com/office/powerpoint/2010/main" val="302882071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cs typeface="Arial" charset="0"/>
        </a:defRPr>
      </a:lvl2pPr>
      <a:lvl3pPr algn="ctr" rtl="0" eaLnBrk="0" fontAlgn="base" hangingPunct="0">
        <a:spcBef>
          <a:spcPct val="0"/>
        </a:spcBef>
        <a:spcAft>
          <a:spcPct val="0"/>
        </a:spcAft>
        <a:defRPr sz="3300">
          <a:solidFill>
            <a:schemeClr val="tx2"/>
          </a:solidFill>
          <a:latin typeface="Arial" charset="0"/>
          <a:cs typeface="Arial" charset="0"/>
        </a:defRPr>
      </a:lvl3pPr>
      <a:lvl4pPr algn="ctr" rtl="0" eaLnBrk="0" fontAlgn="base" hangingPunct="0">
        <a:spcBef>
          <a:spcPct val="0"/>
        </a:spcBef>
        <a:spcAft>
          <a:spcPct val="0"/>
        </a:spcAft>
        <a:defRPr sz="3300">
          <a:solidFill>
            <a:schemeClr val="tx2"/>
          </a:solidFill>
          <a:latin typeface="Arial" charset="0"/>
          <a:cs typeface="Arial" charset="0"/>
        </a:defRPr>
      </a:lvl4pPr>
      <a:lvl5pPr algn="ctr" rtl="0" eaLnBrk="0" fontAlgn="base" hangingPunct="0">
        <a:spcBef>
          <a:spcPct val="0"/>
        </a:spcBef>
        <a:spcAft>
          <a:spcPct val="0"/>
        </a:spcAft>
        <a:defRPr sz="3300">
          <a:solidFill>
            <a:schemeClr val="tx2"/>
          </a:solidFill>
          <a:latin typeface="Arial" charset="0"/>
          <a:cs typeface="Arial" charset="0"/>
        </a:defRPr>
      </a:lvl5pPr>
      <a:lvl6pPr marL="342900" algn="ctr" rtl="0" fontAlgn="base">
        <a:spcBef>
          <a:spcPct val="0"/>
        </a:spcBef>
        <a:spcAft>
          <a:spcPct val="0"/>
        </a:spcAft>
        <a:defRPr sz="3300">
          <a:solidFill>
            <a:schemeClr val="tx2"/>
          </a:solidFill>
          <a:latin typeface="Arial" charset="0"/>
          <a:cs typeface="Arial" charset="0"/>
        </a:defRPr>
      </a:lvl6pPr>
      <a:lvl7pPr marL="685800" algn="ctr" rtl="0" fontAlgn="base">
        <a:spcBef>
          <a:spcPct val="0"/>
        </a:spcBef>
        <a:spcAft>
          <a:spcPct val="0"/>
        </a:spcAft>
        <a:defRPr sz="3300">
          <a:solidFill>
            <a:schemeClr val="tx2"/>
          </a:solidFill>
          <a:latin typeface="Arial" charset="0"/>
          <a:cs typeface="Arial" charset="0"/>
        </a:defRPr>
      </a:lvl7pPr>
      <a:lvl8pPr marL="1028700" algn="ctr" rtl="0" fontAlgn="base">
        <a:spcBef>
          <a:spcPct val="0"/>
        </a:spcBef>
        <a:spcAft>
          <a:spcPct val="0"/>
        </a:spcAft>
        <a:defRPr sz="3300">
          <a:solidFill>
            <a:schemeClr val="tx2"/>
          </a:solidFill>
          <a:latin typeface="Arial" charset="0"/>
          <a:cs typeface="Arial" charset="0"/>
        </a:defRPr>
      </a:lvl8pPr>
      <a:lvl9pPr marL="1371600" algn="ctr" rtl="0" fontAlgn="base">
        <a:spcBef>
          <a:spcPct val="0"/>
        </a:spcBef>
        <a:spcAft>
          <a:spcPct val="0"/>
        </a:spcAft>
        <a:defRPr sz="3300">
          <a:solidFill>
            <a:schemeClr val="tx2"/>
          </a:solidFill>
          <a:latin typeface="Arial" charset="0"/>
          <a:cs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cs typeface="+mn-cs"/>
        </a:defRPr>
      </a:lvl2pPr>
      <a:lvl3pPr marL="857250" indent="-171450" algn="l" rtl="0" eaLnBrk="0" fontAlgn="base" hangingPunct="0">
        <a:spcBef>
          <a:spcPct val="20000"/>
        </a:spcBef>
        <a:spcAft>
          <a:spcPct val="0"/>
        </a:spcAft>
        <a:buChar char="•"/>
        <a:defRPr sz="1800">
          <a:solidFill>
            <a:schemeClr val="tx1"/>
          </a:solidFill>
          <a:latin typeface="+mn-lt"/>
          <a:cs typeface="+mn-cs"/>
        </a:defRPr>
      </a:lvl3pPr>
      <a:lvl4pPr marL="1200150" indent="-171450" algn="l" rtl="0" eaLnBrk="0" fontAlgn="base" hangingPunct="0">
        <a:spcBef>
          <a:spcPct val="20000"/>
        </a:spcBef>
        <a:spcAft>
          <a:spcPct val="0"/>
        </a:spcAft>
        <a:buChar char="–"/>
        <a:defRPr sz="1500">
          <a:solidFill>
            <a:schemeClr val="tx1"/>
          </a:solidFill>
          <a:latin typeface="+mn-lt"/>
          <a:cs typeface="+mn-cs"/>
        </a:defRPr>
      </a:lvl4pPr>
      <a:lvl5pPr marL="1543050" indent="-171450" algn="l" rtl="0" eaLnBrk="0" fontAlgn="base" hangingPunct="0">
        <a:spcBef>
          <a:spcPct val="20000"/>
        </a:spcBef>
        <a:spcAft>
          <a:spcPct val="0"/>
        </a:spcAft>
        <a:buChar char="»"/>
        <a:defRPr sz="1500">
          <a:solidFill>
            <a:schemeClr val="tx1"/>
          </a:solidFill>
          <a:latin typeface="+mn-lt"/>
          <a:cs typeface="+mn-cs"/>
        </a:defRPr>
      </a:lvl5pPr>
      <a:lvl6pPr marL="1885950" indent="-171450" algn="l" rtl="0" fontAlgn="base">
        <a:spcBef>
          <a:spcPct val="20000"/>
        </a:spcBef>
        <a:spcAft>
          <a:spcPct val="0"/>
        </a:spcAft>
        <a:buChar char="»"/>
        <a:defRPr sz="1500">
          <a:solidFill>
            <a:schemeClr val="tx1"/>
          </a:solidFill>
          <a:latin typeface="+mn-lt"/>
          <a:cs typeface="+mn-cs"/>
        </a:defRPr>
      </a:lvl6pPr>
      <a:lvl7pPr marL="2228850" indent="-171450" algn="l" rtl="0" fontAlgn="base">
        <a:spcBef>
          <a:spcPct val="20000"/>
        </a:spcBef>
        <a:spcAft>
          <a:spcPct val="0"/>
        </a:spcAft>
        <a:buChar char="»"/>
        <a:defRPr sz="1500">
          <a:solidFill>
            <a:schemeClr val="tx1"/>
          </a:solidFill>
          <a:latin typeface="+mn-lt"/>
          <a:cs typeface="+mn-cs"/>
        </a:defRPr>
      </a:lvl7pPr>
      <a:lvl8pPr marL="2571750" indent="-171450" algn="l" rtl="0" fontAlgn="base">
        <a:spcBef>
          <a:spcPct val="20000"/>
        </a:spcBef>
        <a:spcAft>
          <a:spcPct val="0"/>
        </a:spcAft>
        <a:buChar char="»"/>
        <a:defRPr sz="1500">
          <a:solidFill>
            <a:schemeClr val="tx1"/>
          </a:solidFill>
          <a:latin typeface="+mn-lt"/>
          <a:cs typeface="+mn-cs"/>
        </a:defRPr>
      </a:lvl8pPr>
      <a:lvl9pPr marL="2914650" indent="-171450" algn="l" rtl="0" fontAlgn="base">
        <a:spcBef>
          <a:spcPct val="20000"/>
        </a:spcBef>
        <a:spcAft>
          <a:spcPct val="0"/>
        </a:spcAft>
        <a:buChar char="»"/>
        <a:defRPr sz="1500">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2">
            <a:extLst>
              <a:ext uri="{FF2B5EF4-FFF2-40B4-BE49-F238E27FC236}">
                <a16:creationId xmlns:a16="http://schemas.microsoft.com/office/drawing/2014/main" id="{5EFBD27D-BD54-BD34-4CA5-80048CE919F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cs typeface="Arial" panose="020B0604020202020204" pitchFamily="34" charset="0"/>
              </a:defRPr>
            </a:lvl2pPr>
            <a:lvl3pPr marL="857250" indent="-171450">
              <a:spcBef>
                <a:spcPct val="20000"/>
              </a:spcBef>
              <a:buChar char="•"/>
              <a:defRPr sz="1800">
                <a:solidFill>
                  <a:schemeClr val="tx1"/>
                </a:solidFill>
                <a:latin typeface="Arial" panose="020B0604020202020204" pitchFamily="34" charset="0"/>
                <a:cs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cs typeface="Arial" panose="020B0604020202020204" pitchFamily="34" charset="0"/>
              </a:defRPr>
            </a:lvl4pPr>
            <a:lvl5pPr marL="1543050" indent="-171450">
              <a:spcBef>
                <a:spcPct val="20000"/>
              </a:spcBef>
              <a:buChar char="»"/>
              <a:defRPr sz="1500">
                <a:solidFill>
                  <a:schemeClr val="tx1"/>
                </a:solidFill>
                <a:latin typeface="Arial" panose="020B0604020202020204" pitchFamily="34" charset="0"/>
                <a:cs typeface="Arial" panose="020B0604020202020204" pitchFamily="34" charset="0"/>
              </a:defRPr>
            </a:lvl5pPr>
            <a:lvl6pPr marL="1885950" indent="-171450" eaLnBrk="0" fontAlgn="base" hangingPunct="0">
              <a:spcBef>
                <a:spcPct val="20000"/>
              </a:spcBef>
              <a:spcAft>
                <a:spcPct val="0"/>
              </a:spcAft>
              <a:buChar char="»"/>
              <a:defRPr sz="1500">
                <a:solidFill>
                  <a:schemeClr val="tx1"/>
                </a:solidFill>
                <a:latin typeface="Arial" panose="020B0604020202020204" pitchFamily="34" charset="0"/>
                <a:cs typeface="Arial" panose="020B0604020202020204" pitchFamily="34" charset="0"/>
              </a:defRPr>
            </a:lvl6pPr>
            <a:lvl7pPr marL="2228850" indent="-171450" eaLnBrk="0" fontAlgn="base" hangingPunct="0">
              <a:spcBef>
                <a:spcPct val="20000"/>
              </a:spcBef>
              <a:spcAft>
                <a:spcPct val="0"/>
              </a:spcAft>
              <a:buChar char="»"/>
              <a:defRPr sz="1500">
                <a:solidFill>
                  <a:schemeClr val="tx1"/>
                </a:solidFill>
                <a:latin typeface="Arial" panose="020B0604020202020204" pitchFamily="34" charset="0"/>
                <a:cs typeface="Arial" panose="020B0604020202020204" pitchFamily="34" charset="0"/>
              </a:defRPr>
            </a:lvl7pPr>
            <a:lvl8pPr marL="2571750" indent="-171450" eaLnBrk="0" fontAlgn="base" hangingPunct="0">
              <a:spcBef>
                <a:spcPct val="20000"/>
              </a:spcBef>
              <a:spcAft>
                <a:spcPct val="0"/>
              </a:spcAft>
              <a:buChar char="»"/>
              <a:defRPr sz="1500">
                <a:solidFill>
                  <a:schemeClr val="tx1"/>
                </a:solidFill>
                <a:latin typeface="Arial" panose="020B0604020202020204" pitchFamily="34" charset="0"/>
                <a:cs typeface="Arial" panose="020B0604020202020204" pitchFamily="34" charset="0"/>
              </a:defRPr>
            </a:lvl8pPr>
            <a:lvl9pPr marL="2914650" indent="-171450" eaLnBrk="0" fontAlgn="base" hangingPunct="0">
              <a:spcBef>
                <a:spcPct val="20000"/>
              </a:spcBef>
              <a:spcAft>
                <a:spcPct val="0"/>
              </a:spcAft>
              <a:buChar char="»"/>
              <a:defRPr sz="1500">
                <a:solidFill>
                  <a:schemeClr val="tx1"/>
                </a:solidFill>
                <a:latin typeface="Arial" panose="020B0604020202020204" pitchFamily="34" charset="0"/>
                <a:cs typeface="Arial" panose="020B0604020202020204" pitchFamily="34" charset="0"/>
              </a:defRPr>
            </a:lvl9pPr>
          </a:lstStyle>
          <a:p>
            <a:pPr defTabSz="685800" fontAlgn="base">
              <a:spcBef>
                <a:spcPct val="0"/>
              </a:spcBef>
              <a:spcAft>
                <a:spcPct val="0"/>
              </a:spcAft>
              <a:buNone/>
            </a:pPr>
            <a:fld id="{34ABA1DE-6834-413B-961F-BB695D0AE87E}" type="slidenum">
              <a:rPr lang="en-US" altLang="en-US" sz="1050">
                <a:solidFill>
                  <a:srgbClr val="000000"/>
                </a:solidFill>
              </a:rPr>
              <a:pPr defTabSz="685800" fontAlgn="base">
                <a:spcBef>
                  <a:spcPct val="0"/>
                </a:spcBef>
                <a:spcAft>
                  <a:spcPct val="0"/>
                </a:spcAft>
                <a:buNone/>
              </a:pPr>
              <a:t>1</a:t>
            </a:fld>
            <a:endParaRPr lang="en-US" altLang="en-US" sz="1050">
              <a:solidFill>
                <a:srgbClr val="000000"/>
              </a:solidFill>
            </a:endParaRPr>
          </a:p>
        </p:txBody>
      </p:sp>
      <p:sp>
        <p:nvSpPr>
          <p:cNvPr id="19" name="Rectangle 3">
            <a:extLst>
              <a:ext uri="{FF2B5EF4-FFF2-40B4-BE49-F238E27FC236}">
                <a16:creationId xmlns:a16="http://schemas.microsoft.com/office/drawing/2014/main" id="{BC7CFFB7-A565-296A-E1D9-6D9B6FC77965}"/>
              </a:ext>
            </a:extLst>
          </p:cNvPr>
          <p:cNvSpPr txBox="1">
            <a:spLocks noChangeArrowheads="1"/>
          </p:cNvSpPr>
          <p:nvPr/>
        </p:nvSpPr>
        <p:spPr bwMode="auto">
          <a:xfrm>
            <a:off x="1656160" y="2115742"/>
            <a:ext cx="5886450" cy="1583531"/>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defTabSz="685800" eaLnBrk="1" hangingPunct="1">
              <a:defRPr/>
            </a:pPr>
            <a:endParaRPr lang="en-US" altLang="x-none" sz="1800" kern="0" dirty="0">
              <a:solidFill>
                <a:srgbClr val="008000"/>
              </a:solidFill>
              <a:latin typeface="Arial"/>
              <a:cs typeface="Arial"/>
            </a:endParaRPr>
          </a:p>
          <a:p>
            <a:pPr defTabSz="685800" eaLnBrk="1" hangingPunct="1">
              <a:defRPr/>
            </a:pPr>
            <a:endParaRPr lang="en-US" altLang="x-none" sz="3600" kern="0" dirty="0">
              <a:solidFill>
                <a:srgbClr val="008000"/>
              </a:solidFill>
              <a:latin typeface="Arial"/>
              <a:cs typeface="Arial"/>
            </a:endParaRPr>
          </a:p>
          <a:p>
            <a:pPr defTabSz="685800" eaLnBrk="1" hangingPunct="1">
              <a:defRPr/>
            </a:pPr>
            <a:endParaRPr lang="en-US" altLang="x-none" sz="1800" kern="0" dirty="0">
              <a:solidFill>
                <a:srgbClr val="008000"/>
              </a:solidFill>
              <a:latin typeface="Arial"/>
              <a:cs typeface="Arial"/>
            </a:endParaRPr>
          </a:p>
          <a:p>
            <a:pPr defTabSz="685800" eaLnBrk="1" hangingPunct="1">
              <a:defRPr/>
            </a:pPr>
            <a:endParaRPr lang="en-US" altLang="x-none" sz="1800" kern="0" dirty="0">
              <a:solidFill>
                <a:srgbClr val="008000"/>
              </a:solidFill>
              <a:latin typeface="Arial"/>
              <a:cs typeface="Arial"/>
            </a:endParaRPr>
          </a:p>
          <a:p>
            <a:pPr defTabSz="685800" eaLnBrk="1" hangingPunct="1">
              <a:defRPr/>
            </a:pPr>
            <a:endParaRPr lang="en-US" altLang="x-none" sz="1800" kern="0" dirty="0">
              <a:solidFill>
                <a:srgbClr val="008000"/>
              </a:solidFill>
              <a:latin typeface="Arial"/>
              <a:cs typeface="Arial"/>
            </a:endParaRPr>
          </a:p>
        </p:txBody>
      </p:sp>
      <p:sp>
        <p:nvSpPr>
          <p:cNvPr id="3076" name="Text Box 18">
            <a:extLst>
              <a:ext uri="{FF2B5EF4-FFF2-40B4-BE49-F238E27FC236}">
                <a16:creationId xmlns:a16="http://schemas.microsoft.com/office/drawing/2014/main" id="{9941B1F0-3364-E2B2-961A-32BC86ABBB9C}"/>
              </a:ext>
            </a:extLst>
          </p:cNvPr>
          <p:cNvSpPr txBox="1">
            <a:spLocks noChangeArrowheads="1"/>
          </p:cNvSpPr>
          <p:nvPr/>
        </p:nvSpPr>
        <p:spPr bwMode="auto">
          <a:xfrm>
            <a:off x="2005012" y="2503885"/>
            <a:ext cx="5834063" cy="992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defTabSz="685800" fontAlgn="base">
              <a:spcBef>
                <a:spcPct val="50000"/>
              </a:spcBef>
              <a:spcAft>
                <a:spcPct val="0"/>
              </a:spcAft>
              <a:buNone/>
            </a:pPr>
            <a:r>
              <a:rPr lang="en-US" altLang="en-US" sz="2700" dirty="0">
                <a:solidFill>
                  <a:srgbClr val="000000"/>
                </a:solidFill>
              </a:rPr>
              <a:t>Expository Writing </a:t>
            </a:r>
          </a:p>
          <a:p>
            <a:pPr defTabSz="685800" fontAlgn="base">
              <a:spcBef>
                <a:spcPct val="50000"/>
              </a:spcBef>
              <a:spcAft>
                <a:spcPct val="0"/>
              </a:spcAft>
              <a:buNone/>
            </a:pPr>
            <a:r>
              <a:rPr lang="en-US" altLang="en-US" sz="2100">
                <a:solidFill>
                  <a:srgbClr val="000000"/>
                </a:solidFill>
              </a:rPr>
              <a:t>ENGL-101</a:t>
            </a:r>
            <a:endParaRPr lang="en-US" altLang="en-US" sz="3000" dirty="0">
              <a:solidFill>
                <a:srgbClr val="000000"/>
              </a:solidFill>
            </a:endParaRPr>
          </a:p>
        </p:txBody>
      </p:sp>
      <p:sp>
        <p:nvSpPr>
          <p:cNvPr id="3077" name="Line 23">
            <a:extLst>
              <a:ext uri="{FF2B5EF4-FFF2-40B4-BE49-F238E27FC236}">
                <a16:creationId xmlns:a16="http://schemas.microsoft.com/office/drawing/2014/main" id="{B4232F22-705A-E9FD-2AA2-39240B1F2500}"/>
              </a:ext>
            </a:extLst>
          </p:cNvPr>
          <p:cNvSpPr>
            <a:spLocks noChangeShapeType="1"/>
          </p:cNvSpPr>
          <p:nvPr/>
        </p:nvSpPr>
        <p:spPr bwMode="auto">
          <a:xfrm>
            <a:off x="1824038" y="2457451"/>
            <a:ext cx="0" cy="756047"/>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pPr defTabSz="685800" eaLnBrk="0" fontAlgn="base" hangingPunct="0">
              <a:spcBef>
                <a:spcPct val="0"/>
              </a:spcBef>
              <a:spcAft>
                <a:spcPct val="0"/>
              </a:spcAft>
            </a:pPr>
            <a:endParaRPr lang="en-US" sz="1350">
              <a:solidFill>
                <a:srgbClr val="000000"/>
              </a:solidFill>
              <a:latin typeface="Arial" panose="020B0604020202020204" pitchFamily="34" charset="0"/>
              <a:cs typeface="Arial" panose="020B0604020202020204" pitchFamily="34" charset="0"/>
            </a:endParaRPr>
          </a:p>
        </p:txBody>
      </p:sp>
      <p:sp>
        <p:nvSpPr>
          <p:cNvPr id="3078" name="Line 22">
            <a:extLst>
              <a:ext uri="{FF2B5EF4-FFF2-40B4-BE49-F238E27FC236}">
                <a16:creationId xmlns:a16="http://schemas.microsoft.com/office/drawing/2014/main" id="{2D6A460A-77FE-78D2-9E9C-5C6AB2672F35}"/>
              </a:ext>
            </a:extLst>
          </p:cNvPr>
          <p:cNvSpPr>
            <a:spLocks noChangeShapeType="1"/>
          </p:cNvSpPr>
          <p:nvPr/>
        </p:nvSpPr>
        <p:spPr bwMode="auto">
          <a:xfrm>
            <a:off x="1439466" y="2943225"/>
            <a:ext cx="6103144"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pPr defTabSz="685800" eaLnBrk="0" fontAlgn="base" hangingPunct="0">
              <a:spcBef>
                <a:spcPct val="0"/>
              </a:spcBef>
              <a:spcAft>
                <a:spcPct val="0"/>
              </a:spcAft>
            </a:pPr>
            <a:endParaRPr lang="en-US" sz="1350">
              <a:solidFill>
                <a:srgbClr val="000000"/>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9A80F634-D402-5C12-E229-76C2533B7651}"/>
              </a:ext>
            </a:extLst>
          </p:cNvPr>
          <p:cNvGraphicFramePr>
            <a:graphicFrameLocks noGrp="1"/>
          </p:cNvGraphicFramePr>
          <p:nvPr/>
        </p:nvGraphicFramePr>
        <p:xfrm>
          <a:off x="1980010" y="1263254"/>
          <a:ext cx="4901803" cy="670560"/>
        </p:xfrm>
        <a:graphic>
          <a:graphicData uri="http://schemas.openxmlformats.org/drawingml/2006/table">
            <a:tbl>
              <a:tblPr firstRow="1" firstCol="1" bandRow="1">
                <a:tableStyleId>{5C22544A-7EE6-4342-B048-85BDC9FD1C3A}</a:tableStyleId>
              </a:tblPr>
              <a:tblGrid>
                <a:gridCol w="623812">
                  <a:extLst>
                    <a:ext uri="{9D8B030D-6E8A-4147-A177-3AD203B41FA5}">
                      <a16:colId xmlns:a16="http://schemas.microsoft.com/office/drawing/2014/main" val="20000"/>
                    </a:ext>
                  </a:extLst>
                </a:gridCol>
                <a:gridCol w="4277991">
                  <a:extLst>
                    <a:ext uri="{9D8B030D-6E8A-4147-A177-3AD203B41FA5}">
                      <a16:colId xmlns:a16="http://schemas.microsoft.com/office/drawing/2014/main" val="20001"/>
                    </a:ext>
                  </a:extLst>
                </a:gridCol>
              </a:tblGrid>
              <a:tr h="600075">
                <a:tc>
                  <a:txBody>
                    <a:bodyPr/>
                    <a:lstStyle/>
                    <a:p>
                      <a:pPr marL="0" marR="0">
                        <a:spcBef>
                          <a:spcPts val="0"/>
                        </a:spcBef>
                        <a:spcAft>
                          <a:spcPts val="0"/>
                        </a:spcAft>
                        <a:tabLst>
                          <a:tab pos="2971800" algn="ctr"/>
                          <a:tab pos="5943600" algn="r"/>
                        </a:tabLst>
                      </a:pPr>
                      <a:endParaRPr lang="en-US" sz="800" dirty="0">
                        <a:effectLst/>
                        <a:latin typeface="Times New Roman"/>
                        <a:ea typeface="Times New Roman"/>
                        <a:cs typeface="Times New Roman"/>
                      </a:endParaRPr>
                    </a:p>
                  </a:txBody>
                  <a:tcPr marL="51429" marR="51429" marT="0" marB="0"/>
                </a:tc>
                <a:tc>
                  <a:txBody>
                    <a:bodyPr/>
                    <a:lstStyle/>
                    <a:p>
                      <a:pPr marL="0" marR="0">
                        <a:spcBef>
                          <a:spcPts val="0"/>
                        </a:spcBef>
                        <a:spcAft>
                          <a:spcPts val="0"/>
                        </a:spcAft>
                        <a:tabLst>
                          <a:tab pos="2971800" algn="ctr"/>
                          <a:tab pos="5943600" algn="r"/>
                        </a:tabLst>
                      </a:pPr>
                      <a:r>
                        <a:rPr lang="en-US" sz="1100" dirty="0">
                          <a:effectLst/>
                        </a:rPr>
                        <a:t>National University of Sciences &amp; Technology (NUST)</a:t>
                      </a:r>
                      <a:endParaRPr lang="en-US" sz="800" dirty="0">
                        <a:effectLst/>
                      </a:endParaRPr>
                    </a:p>
                    <a:p>
                      <a:pPr marL="0" marR="0">
                        <a:spcBef>
                          <a:spcPts val="0"/>
                        </a:spcBef>
                        <a:spcAft>
                          <a:spcPts val="0"/>
                        </a:spcAft>
                        <a:tabLst>
                          <a:tab pos="2971800" algn="ctr"/>
                          <a:tab pos="5943600" algn="r"/>
                        </a:tabLst>
                      </a:pPr>
                      <a:r>
                        <a:rPr lang="en-US" sz="1100" dirty="0">
                          <a:effectLst/>
                        </a:rPr>
                        <a:t>School of Electrical Engineering and Computer Science (SEECS)</a:t>
                      </a:r>
                      <a:endParaRPr lang="en-US" sz="800" dirty="0">
                        <a:effectLst/>
                      </a:endParaRPr>
                    </a:p>
                    <a:p>
                      <a:pPr marL="0" marR="0">
                        <a:spcBef>
                          <a:spcPts val="0"/>
                        </a:spcBef>
                        <a:spcAft>
                          <a:spcPts val="0"/>
                        </a:spcAft>
                        <a:tabLst>
                          <a:tab pos="2971800" algn="ctr"/>
                          <a:tab pos="5943600" algn="r"/>
                        </a:tabLst>
                      </a:pPr>
                      <a:r>
                        <a:rPr lang="en-US" sz="1100" dirty="0">
                          <a:effectLst/>
                        </a:rPr>
                        <a:t>Department of Humanities &amp; Sciences</a:t>
                      </a:r>
                      <a:endParaRPr lang="en-US" sz="800" dirty="0">
                        <a:effectLst/>
                        <a:latin typeface="Calibri"/>
                        <a:ea typeface="Calibri"/>
                        <a:cs typeface="Times New Roman"/>
                      </a:endParaRPr>
                    </a:p>
                  </a:txBody>
                  <a:tcPr marL="51429" marR="51429" marT="0" marB="0" anchor="ctr"/>
                </a:tc>
                <a:extLst>
                  <a:ext uri="{0D108BD9-81ED-4DB2-BD59-A6C34878D82A}">
                    <a16:rowId xmlns:a16="http://schemas.microsoft.com/office/drawing/2014/main" val="10000"/>
                  </a:ext>
                </a:extLst>
              </a:tr>
            </a:tbl>
          </a:graphicData>
        </a:graphic>
      </p:graphicFrame>
      <p:pic>
        <p:nvPicPr>
          <p:cNvPr id="3087" name="Picture 1" descr="01">
            <a:extLst>
              <a:ext uri="{FF2B5EF4-FFF2-40B4-BE49-F238E27FC236}">
                <a16:creationId xmlns:a16="http://schemas.microsoft.com/office/drawing/2014/main" id="{E3BC464F-91D8-46B1-A4AF-5F506D370C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0010" y="1233487"/>
            <a:ext cx="623888"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6" name="TextBox 4">
            <a:extLst>
              <a:ext uri="{FF2B5EF4-FFF2-40B4-BE49-F238E27FC236}">
                <a16:creationId xmlns:a16="http://schemas.microsoft.com/office/drawing/2014/main" id="{8B2B3E67-8563-DBF8-6153-E38BC5FA745C}"/>
              </a:ext>
            </a:extLst>
          </p:cNvPr>
          <p:cNvSpPr txBox="1">
            <a:spLocks noChangeArrowheads="1"/>
          </p:cNvSpPr>
          <p:nvPr/>
        </p:nvSpPr>
        <p:spPr bwMode="auto">
          <a:xfrm>
            <a:off x="1824037" y="4185048"/>
            <a:ext cx="5339954" cy="1431161"/>
          </a:xfrm>
          <a:prstGeom prst="rect">
            <a:avLst/>
          </a:prstGeom>
          <a:noFill/>
          <a:ln>
            <a:noFill/>
          </a:ln>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685800" eaLnBrk="0" fontAlgn="base" hangingPunct="0">
              <a:spcBef>
                <a:spcPct val="0"/>
              </a:spcBef>
              <a:spcAft>
                <a:spcPct val="0"/>
              </a:spcAft>
              <a:defRPr/>
            </a:pPr>
            <a:endParaRPr lang="en-US" sz="1500" dirty="0">
              <a:solidFill>
                <a:srgbClr val="333399">
                  <a:lumMod val="50000"/>
                </a:srgbClr>
              </a:solidFill>
            </a:endParaRPr>
          </a:p>
          <a:p>
            <a:pPr defTabSz="685800" eaLnBrk="0" fontAlgn="base" hangingPunct="0">
              <a:spcBef>
                <a:spcPct val="0"/>
              </a:spcBef>
              <a:spcAft>
                <a:spcPct val="0"/>
              </a:spcAft>
              <a:defRPr/>
            </a:pPr>
            <a:r>
              <a:rPr lang="en-US" sz="2100" u="sng" dirty="0">
                <a:solidFill>
                  <a:srgbClr val="333399">
                    <a:lumMod val="50000"/>
                  </a:srgbClr>
                </a:solidFill>
              </a:rPr>
              <a:t>Course Instructor</a:t>
            </a:r>
            <a:r>
              <a:rPr lang="en-US" sz="1500" dirty="0">
                <a:solidFill>
                  <a:srgbClr val="333399">
                    <a:lumMod val="50000"/>
                  </a:srgbClr>
                </a:solidFill>
              </a:rPr>
              <a:t>: </a:t>
            </a:r>
            <a:r>
              <a:rPr lang="en-US" sz="2100" dirty="0">
                <a:solidFill>
                  <a:srgbClr val="333399">
                    <a:lumMod val="50000"/>
                  </a:srgbClr>
                </a:solidFill>
              </a:rPr>
              <a:t>Dr Samia Tahir</a:t>
            </a:r>
          </a:p>
          <a:p>
            <a:pPr defTabSz="685800" eaLnBrk="0" fontAlgn="base" hangingPunct="0">
              <a:spcBef>
                <a:spcPct val="0"/>
              </a:spcBef>
              <a:spcAft>
                <a:spcPct val="0"/>
              </a:spcAft>
              <a:defRPr/>
            </a:pPr>
            <a:r>
              <a:rPr lang="en-US" sz="2100" dirty="0">
                <a:solidFill>
                  <a:srgbClr val="333399">
                    <a:lumMod val="50000"/>
                  </a:srgbClr>
                </a:solidFill>
              </a:rPr>
              <a:t>			 </a:t>
            </a:r>
            <a:endParaRPr lang="en-US" sz="1500" dirty="0">
              <a:solidFill>
                <a:srgbClr val="333399">
                  <a:lumMod val="50000"/>
                </a:srgbClr>
              </a:solidFill>
            </a:endParaRPr>
          </a:p>
          <a:p>
            <a:pPr defTabSz="685800" eaLnBrk="0" fontAlgn="base" hangingPunct="0">
              <a:spcBef>
                <a:spcPct val="0"/>
              </a:spcBef>
              <a:spcAft>
                <a:spcPct val="0"/>
              </a:spcAft>
              <a:defRPr/>
            </a:pPr>
            <a:r>
              <a:rPr lang="en-US" sz="1500" dirty="0">
                <a:solidFill>
                  <a:srgbClr val="333399">
                    <a:lumMod val="50000"/>
                  </a:srgbClr>
                </a:solidFill>
              </a:rPr>
              <a:t>			 </a:t>
            </a:r>
            <a:r>
              <a:rPr lang="en-US" sz="1500" dirty="0">
                <a:solidFill>
                  <a:srgbClr val="FF0000"/>
                </a:solidFill>
              </a:rPr>
              <a:t>Email:</a:t>
            </a:r>
            <a:r>
              <a:rPr lang="en-US" sz="1500" dirty="0">
                <a:solidFill>
                  <a:srgbClr val="333399">
                    <a:lumMod val="50000"/>
                  </a:srgbClr>
                </a:solidFill>
              </a:rPr>
              <a:t> samia.tahir@seecs.edu.pk</a:t>
            </a:r>
          </a:p>
          <a:p>
            <a:pPr defTabSz="685800" eaLnBrk="0" fontAlgn="base" hangingPunct="0">
              <a:spcBef>
                <a:spcPct val="0"/>
              </a:spcBef>
              <a:spcAft>
                <a:spcPct val="0"/>
              </a:spcAft>
              <a:defRPr/>
            </a:pPr>
            <a:r>
              <a:rPr lang="en-US" sz="1500" dirty="0">
                <a:solidFill>
                  <a:srgbClr val="333399">
                    <a:lumMod val="50000"/>
                  </a:srgbClr>
                </a:solidFill>
              </a:rPr>
              <a:t>                                         </a:t>
            </a:r>
            <a:r>
              <a:rPr lang="en-US" sz="1350" dirty="0">
                <a:solidFill>
                  <a:srgbClr val="333399">
                    <a:lumMod val="50000"/>
                  </a:srgbClr>
                </a:solidFill>
              </a:rPr>
              <a:t>Office: 1</a:t>
            </a:r>
            <a:r>
              <a:rPr lang="en-US" sz="1350" baseline="30000" dirty="0">
                <a:solidFill>
                  <a:srgbClr val="333399">
                    <a:lumMod val="50000"/>
                  </a:srgbClr>
                </a:solidFill>
              </a:rPr>
              <a:t>st</a:t>
            </a:r>
            <a:r>
              <a:rPr lang="en-US" sz="1350" dirty="0">
                <a:solidFill>
                  <a:srgbClr val="333399">
                    <a:lumMod val="50000"/>
                  </a:srgbClr>
                </a:solidFill>
              </a:rPr>
              <a:t> floor, PG block, SEECS</a:t>
            </a:r>
            <a:endParaRPr lang="en-US" sz="1500" dirty="0">
              <a:solidFill>
                <a:srgbClr val="333399">
                  <a:lumMod val="50000"/>
                </a:srgbClr>
              </a:solidFill>
            </a:endParaRPr>
          </a:p>
        </p:txBody>
      </p:sp>
      <p:sp>
        <p:nvSpPr>
          <p:cNvPr id="3089" name="TextBox 2">
            <a:extLst>
              <a:ext uri="{FF2B5EF4-FFF2-40B4-BE49-F238E27FC236}">
                <a16:creationId xmlns:a16="http://schemas.microsoft.com/office/drawing/2014/main" id="{BCB40F58-1EA3-63F7-E07B-EF9A95367608}"/>
              </a:ext>
            </a:extLst>
          </p:cNvPr>
          <p:cNvSpPr txBox="1">
            <a:spLocks noChangeArrowheads="1"/>
          </p:cNvSpPr>
          <p:nvPr/>
        </p:nvSpPr>
        <p:spPr bwMode="auto">
          <a:xfrm>
            <a:off x="1824038" y="3699272"/>
            <a:ext cx="181332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buNone/>
            </a:pPr>
            <a:r>
              <a:rPr lang="en-US" altLang="en-US" sz="2100" u="sng" dirty="0">
                <a:solidFill>
                  <a:srgbClr val="333399"/>
                </a:solidFill>
              </a:rPr>
              <a:t>Week 13: Lecture # 2</a:t>
            </a:r>
          </a:p>
        </p:txBody>
      </p:sp>
    </p:spTree>
  </p:cSld>
  <p:clrMapOvr>
    <a:masterClrMapping/>
  </p:clrMapOvr>
  <p:transition advTm="3106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362200"/>
            <a:ext cx="8229600" cy="3645091"/>
          </a:xfrm>
        </p:spPr>
        <p:txBody>
          <a:bodyPr>
            <a:normAutofit/>
          </a:bodyPr>
          <a:lstStyle/>
          <a:p>
            <a:pPr algn="ctr"/>
            <a:r>
              <a:rPr lang="en-GB" sz="4800" dirty="0"/>
              <a:t>Abstract versus Executive Summary</a:t>
            </a:r>
          </a:p>
        </p:txBody>
      </p:sp>
      <p:sp>
        <p:nvSpPr>
          <p:cNvPr id="3" name="Title 2"/>
          <p:cNvSpPr>
            <a:spLocks noGrp="1"/>
          </p:cNvSpPr>
          <p:nvPr>
            <p:ph type="title"/>
          </p:nvPr>
        </p:nvSpPr>
        <p:spPr/>
        <p:txBody>
          <a:bodyPr/>
          <a:lstStyle/>
          <a:p>
            <a:r>
              <a:rPr lang="en-GB" dirty="0"/>
              <a:t>Topic</a:t>
            </a:r>
          </a:p>
        </p:txBody>
      </p:sp>
    </p:spTree>
    <p:extLst>
      <p:ext uri="{BB962C8B-B14F-4D97-AF65-F5344CB8AC3E}">
        <p14:creationId xmlns:p14="http://schemas.microsoft.com/office/powerpoint/2010/main" val="198989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fontScale="92500" lnSpcReduction="20000"/>
          </a:bodyPr>
          <a:lstStyle/>
          <a:p>
            <a:r>
              <a:rPr lang="en-US" dirty="0"/>
              <a:t>The terms "abstract," "summary," and "executive summary" are related but serve different purposes in various contexts. Here are the key differences:</a:t>
            </a:r>
            <a:endParaRPr lang="en-GB" dirty="0"/>
          </a:p>
          <a:p>
            <a:r>
              <a:rPr lang="en-US" b="1" u="sng" dirty="0"/>
              <a:t>Abstract:</a:t>
            </a:r>
            <a:endParaRPr lang="en-GB" dirty="0"/>
          </a:p>
          <a:p>
            <a:r>
              <a:rPr lang="en-US" b="1" dirty="0"/>
              <a:t>Definition</a:t>
            </a:r>
            <a:r>
              <a:rPr lang="en-US" dirty="0"/>
              <a:t>:</a:t>
            </a:r>
            <a:endParaRPr lang="en-GB" dirty="0"/>
          </a:p>
          <a:p>
            <a:r>
              <a:rPr lang="en-US" dirty="0"/>
              <a:t>An abstract is a concise snapshot of a research paper.</a:t>
            </a:r>
            <a:endParaRPr lang="en-GB" dirty="0"/>
          </a:p>
          <a:p>
            <a:r>
              <a:rPr lang="en-US" dirty="0"/>
              <a:t>It provides a brief overview of the main points, methodology, results, and conclusions of the document.</a:t>
            </a:r>
            <a:endParaRPr lang="en-GB" dirty="0"/>
          </a:p>
          <a:p>
            <a:r>
              <a:rPr lang="en-US" b="1" dirty="0"/>
              <a:t>Length</a:t>
            </a:r>
            <a:r>
              <a:rPr lang="en-US" dirty="0"/>
              <a:t>:</a:t>
            </a:r>
            <a:endParaRPr lang="en-GB" dirty="0"/>
          </a:p>
          <a:p>
            <a:r>
              <a:rPr lang="en-US" dirty="0"/>
              <a:t>Typically, abstracts are shorter in length, often limited to a specified word count or character limit.</a:t>
            </a:r>
            <a:endParaRPr lang="en-GB" dirty="0"/>
          </a:p>
          <a:p>
            <a:endParaRPr lang="en-GB" dirty="0"/>
          </a:p>
        </p:txBody>
      </p:sp>
      <p:sp>
        <p:nvSpPr>
          <p:cNvPr id="3" name="Title 2"/>
          <p:cNvSpPr>
            <a:spLocks noGrp="1"/>
          </p:cNvSpPr>
          <p:nvPr>
            <p:ph type="title"/>
          </p:nvPr>
        </p:nvSpPr>
        <p:spPr/>
        <p:txBody>
          <a:bodyPr/>
          <a:lstStyle/>
          <a:p>
            <a:pPr algn="ctr"/>
            <a:r>
              <a:rPr lang="en-GB" dirty="0"/>
              <a:t>Abstract</a:t>
            </a:r>
          </a:p>
        </p:txBody>
      </p:sp>
    </p:spTree>
    <p:extLst>
      <p:ext uri="{BB962C8B-B14F-4D97-AF65-F5344CB8AC3E}">
        <p14:creationId xmlns:p14="http://schemas.microsoft.com/office/powerpoint/2010/main" val="1378492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a:bodyPr>
          <a:lstStyle/>
          <a:p>
            <a:r>
              <a:rPr lang="en-US" dirty="0"/>
              <a:t>Primarily targeted at academics, researchers, and professionals in a specific field who are interested in the detailed content of the document.</a:t>
            </a:r>
            <a:endParaRPr lang="en-GB" dirty="0"/>
          </a:p>
          <a:p>
            <a:r>
              <a:rPr lang="en-US" b="1" dirty="0"/>
              <a:t>Location</a:t>
            </a:r>
            <a:r>
              <a:rPr lang="en-US" dirty="0"/>
              <a:t>:</a:t>
            </a:r>
            <a:endParaRPr lang="en-GB" dirty="0"/>
          </a:p>
          <a:p>
            <a:r>
              <a:rPr lang="en-US" dirty="0"/>
              <a:t>Commonly found at the beginning of academic articles, research papers, and conference papers.</a:t>
            </a:r>
            <a:endParaRPr lang="en-GB" dirty="0"/>
          </a:p>
          <a:p>
            <a:endParaRPr lang="en-GB" dirty="0"/>
          </a:p>
        </p:txBody>
      </p:sp>
    </p:spTree>
    <p:extLst>
      <p:ext uri="{BB962C8B-B14F-4D97-AF65-F5344CB8AC3E}">
        <p14:creationId xmlns:p14="http://schemas.microsoft.com/office/powerpoint/2010/main" val="3361559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fontScale="85000" lnSpcReduction="20000"/>
          </a:bodyPr>
          <a:lstStyle/>
          <a:p>
            <a:r>
              <a:rPr lang="en-US" b="1" dirty="0"/>
              <a:t>Definition</a:t>
            </a:r>
            <a:r>
              <a:rPr lang="en-US" dirty="0"/>
              <a:t>:</a:t>
            </a:r>
            <a:endParaRPr lang="en-GB" dirty="0"/>
          </a:p>
          <a:p>
            <a:r>
              <a:rPr lang="en-US" dirty="0"/>
              <a:t>A summary is a brief and comprehensive overview of the main points, key arguments, and essential details of a text, article, or document.</a:t>
            </a:r>
            <a:endParaRPr lang="en-GB" dirty="0"/>
          </a:p>
          <a:p>
            <a:r>
              <a:rPr lang="en-US" b="1" dirty="0"/>
              <a:t>Length</a:t>
            </a:r>
            <a:r>
              <a:rPr lang="en-US" dirty="0"/>
              <a:t>:</a:t>
            </a:r>
            <a:endParaRPr lang="en-GB" dirty="0"/>
          </a:p>
          <a:p>
            <a:r>
              <a:rPr lang="en-US" dirty="0"/>
              <a:t>The length of a summary can vary but is generally longer than an abstract. It includes more details while still being concise.</a:t>
            </a:r>
            <a:endParaRPr lang="en-GB" dirty="0"/>
          </a:p>
          <a:p>
            <a:r>
              <a:rPr lang="en-US" b="1" dirty="0"/>
              <a:t>Audience</a:t>
            </a:r>
            <a:r>
              <a:rPr lang="en-US" dirty="0"/>
              <a:t>:</a:t>
            </a:r>
            <a:endParaRPr lang="en-GB" dirty="0"/>
          </a:p>
          <a:p>
            <a:r>
              <a:rPr lang="en-US" dirty="0"/>
              <a:t>Intended for a broader audience, including those who may not have a deep understanding of the subject matter.</a:t>
            </a:r>
            <a:endParaRPr lang="en-GB" dirty="0"/>
          </a:p>
          <a:p>
            <a:r>
              <a:rPr lang="en-US" b="1" dirty="0"/>
              <a:t>Location</a:t>
            </a:r>
            <a:r>
              <a:rPr lang="en-US" dirty="0"/>
              <a:t>:</a:t>
            </a:r>
            <a:endParaRPr lang="en-GB" dirty="0"/>
          </a:p>
          <a:p>
            <a:r>
              <a:rPr lang="en-US" dirty="0"/>
              <a:t>Summaries can be found in various contexts, including book jackets, article introductions, and executive briefings.</a:t>
            </a:r>
            <a:endParaRPr lang="en-GB" dirty="0"/>
          </a:p>
          <a:p>
            <a:pPr marL="109728" indent="0">
              <a:buNone/>
            </a:pPr>
            <a:endParaRPr lang="en-GB" dirty="0"/>
          </a:p>
          <a:p>
            <a:endParaRPr lang="en-GB" dirty="0"/>
          </a:p>
        </p:txBody>
      </p:sp>
      <p:sp>
        <p:nvSpPr>
          <p:cNvPr id="3" name="Title 2"/>
          <p:cNvSpPr>
            <a:spLocks noGrp="1"/>
          </p:cNvSpPr>
          <p:nvPr>
            <p:ph type="title"/>
          </p:nvPr>
        </p:nvSpPr>
        <p:spPr/>
        <p:txBody>
          <a:bodyPr/>
          <a:lstStyle/>
          <a:p>
            <a:pPr algn="ctr"/>
            <a:r>
              <a:rPr lang="en-GB" dirty="0"/>
              <a:t>Summary</a:t>
            </a:r>
          </a:p>
        </p:txBody>
      </p:sp>
    </p:spTree>
    <p:extLst>
      <p:ext uri="{BB962C8B-B14F-4D97-AF65-F5344CB8AC3E}">
        <p14:creationId xmlns:p14="http://schemas.microsoft.com/office/powerpoint/2010/main" val="2614270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fontScale="70000" lnSpcReduction="20000"/>
          </a:bodyPr>
          <a:lstStyle/>
          <a:p>
            <a:r>
              <a:rPr lang="en-US" b="1" dirty="0"/>
              <a:t>Definition</a:t>
            </a:r>
            <a:r>
              <a:rPr lang="en-US" dirty="0"/>
              <a:t>:</a:t>
            </a:r>
            <a:endParaRPr lang="en-GB" dirty="0"/>
          </a:p>
          <a:p>
            <a:r>
              <a:rPr lang="en-US" dirty="0"/>
              <a:t>An executive summary is a condensed version of a report, proposal, or in some cases, a strategic plan. It is a decision-oriented overview of a report or a proposal.</a:t>
            </a:r>
            <a:endParaRPr lang="en-GB" dirty="0"/>
          </a:p>
          <a:p>
            <a:r>
              <a:rPr lang="en-US" dirty="0"/>
              <a:t>It highlights the main objectives, key findings, recommendations, and potential impacts.</a:t>
            </a:r>
            <a:endParaRPr lang="en-GB" dirty="0"/>
          </a:p>
          <a:p>
            <a:r>
              <a:rPr lang="en-US" b="1" dirty="0"/>
              <a:t>Length</a:t>
            </a:r>
            <a:r>
              <a:rPr lang="en-US" dirty="0"/>
              <a:t>:</a:t>
            </a:r>
            <a:endParaRPr lang="en-GB" dirty="0"/>
          </a:p>
          <a:p>
            <a:r>
              <a:rPr lang="en-US" dirty="0"/>
              <a:t>While longer than an abstract, an executive summary is still shorter than the full report. It may range from a few paragraphs to a few pages.</a:t>
            </a:r>
            <a:endParaRPr lang="en-GB" dirty="0"/>
          </a:p>
          <a:p>
            <a:r>
              <a:rPr lang="en-US" b="1" dirty="0"/>
              <a:t>Audience</a:t>
            </a:r>
            <a:r>
              <a:rPr lang="en-US" dirty="0"/>
              <a:t>:</a:t>
            </a:r>
            <a:endParaRPr lang="en-GB" dirty="0"/>
          </a:p>
          <a:p>
            <a:r>
              <a:rPr lang="en-US" dirty="0"/>
              <a:t>Primarily aimed at executives, decision-makers, and stakeholders who need a quick understanding of the document's key points without delving into the details.</a:t>
            </a:r>
            <a:endParaRPr lang="en-GB" dirty="0"/>
          </a:p>
          <a:p>
            <a:r>
              <a:rPr lang="en-US" b="1" dirty="0"/>
              <a:t>Location</a:t>
            </a:r>
            <a:r>
              <a:rPr lang="en-US" dirty="0"/>
              <a:t>:</a:t>
            </a:r>
            <a:endParaRPr lang="en-GB" dirty="0"/>
          </a:p>
          <a:p>
            <a:r>
              <a:rPr lang="en-US" dirty="0"/>
              <a:t>Typically placed at the beginning of a business report, allowing busy professionals to grasp the essentials before deciding whether to read the entire document.</a:t>
            </a:r>
            <a:endParaRPr lang="en-GB" dirty="0"/>
          </a:p>
          <a:p>
            <a:pPr marL="109728" indent="0">
              <a:buNone/>
            </a:pPr>
            <a:endParaRPr lang="en-GB" dirty="0"/>
          </a:p>
          <a:p>
            <a:endParaRPr lang="en-GB" dirty="0"/>
          </a:p>
        </p:txBody>
      </p:sp>
      <p:sp>
        <p:nvSpPr>
          <p:cNvPr id="3" name="Title 2"/>
          <p:cNvSpPr>
            <a:spLocks noGrp="1"/>
          </p:cNvSpPr>
          <p:nvPr>
            <p:ph type="title"/>
          </p:nvPr>
        </p:nvSpPr>
        <p:spPr/>
        <p:txBody>
          <a:bodyPr>
            <a:normAutofit/>
          </a:bodyPr>
          <a:lstStyle/>
          <a:p>
            <a:pPr algn="ctr"/>
            <a:r>
              <a:rPr lang="en-US" u="sng" dirty="0"/>
              <a:t>Executive</a:t>
            </a:r>
            <a:r>
              <a:rPr lang="en-US" dirty="0"/>
              <a:t> </a:t>
            </a:r>
            <a:r>
              <a:rPr lang="en-US" u="sng" dirty="0"/>
              <a:t>Summary</a:t>
            </a:r>
            <a:endParaRPr lang="en-GB" dirty="0"/>
          </a:p>
        </p:txBody>
      </p:sp>
    </p:spTree>
    <p:extLst>
      <p:ext uri="{BB962C8B-B14F-4D97-AF65-F5344CB8AC3E}">
        <p14:creationId xmlns:p14="http://schemas.microsoft.com/office/powerpoint/2010/main" val="2427894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fontScale="92500" lnSpcReduction="20000"/>
          </a:bodyPr>
          <a:lstStyle/>
          <a:p>
            <a:r>
              <a:rPr lang="en-US" b="1" u="sng" dirty="0"/>
              <a:t>Depth of Detail:</a:t>
            </a:r>
            <a:endParaRPr lang="en-GB" dirty="0"/>
          </a:p>
          <a:p>
            <a:r>
              <a:rPr lang="en-US" dirty="0"/>
              <a:t>Abstracts provide a high-level overview with limited detail.</a:t>
            </a:r>
            <a:endParaRPr lang="en-GB" dirty="0"/>
          </a:p>
          <a:p>
            <a:r>
              <a:rPr lang="en-US" dirty="0"/>
              <a:t>Summaries offer more detail than abstracts but are still concise.</a:t>
            </a:r>
            <a:endParaRPr lang="en-GB" dirty="0"/>
          </a:p>
          <a:p>
            <a:r>
              <a:rPr lang="en-US" dirty="0"/>
              <a:t>Executive summaries provide more detail than abstracts and summaries but are shorter than the full document.</a:t>
            </a:r>
            <a:endParaRPr lang="en-GB" dirty="0"/>
          </a:p>
          <a:p>
            <a:r>
              <a:rPr lang="en-US" b="1" u="sng" dirty="0"/>
              <a:t>Target Audience:</a:t>
            </a:r>
            <a:endParaRPr lang="en-GB" dirty="0"/>
          </a:p>
          <a:p>
            <a:r>
              <a:rPr lang="en-US" dirty="0"/>
              <a:t>Abstracts target researchers and academics.</a:t>
            </a:r>
            <a:endParaRPr lang="en-GB" dirty="0"/>
          </a:p>
          <a:p>
            <a:r>
              <a:rPr lang="en-US" dirty="0"/>
              <a:t>Summaries cater to a broader audience.</a:t>
            </a:r>
            <a:endParaRPr lang="en-GB" dirty="0"/>
          </a:p>
          <a:p>
            <a:r>
              <a:rPr lang="en-US" dirty="0"/>
              <a:t>Executive summaries are tailored for executives and decision-makers.</a:t>
            </a:r>
            <a:endParaRPr lang="en-GB" dirty="0"/>
          </a:p>
          <a:p>
            <a:r>
              <a:rPr lang="en-US" dirty="0"/>
              <a:t> </a:t>
            </a:r>
            <a:endParaRPr lang="en-GB" dirty="0"/>
          </a:p>
          <a:p>
            <a:pPr marL="109728" indent="0">
              <a:buNone/>
            </a:pPr>
            <a:endParaRPr lang="en-GB" dirty="0"/>
          </a:p>
          <a:p>
            <a:endParaRPr lang="en-GB" dirty="0"/>
          </a:p>
        </p:txBody>
      </p:sp>
      <p:sp>
        <p:nvSpPr>
          <p:cNvPr id="3" name="Title 2"/>
          <p:cNvSpPr>
            <a:spLocks noGrp="1"/>
          </p:cNvSpPr>
          <p:nvPr>
            <p:ph type="title"/>
          </p:nvPr>
        </p:nvSpPr>
        <p:spPr/>
        <p:txBody>
          <a:bodyPr>
            <a:normAutofit/>
          </a:bodyPr>
          <a:lstStyle/>
          <a:p>
            <a:pPr algn="ctr"/>
            <a:r>
              <a:rPr lang="en-US" u="sng" dirty="0"/>
              <a:t>Key Distinctions</a:t>
            </a:r>
            <a:endParaRPr lang="en-GB" dirty="0"/>
          </a:p>
        </p:txBody>
      </p:sp>
    </p:spTree>
    <p:extLst>
      <p:ext uri="{BB962C8B-B14F-4D97-AF65-F5344CB8AC3E}">
        <p14:creationId xmlns:p14="http://schemas.microsoft.com/office/powerpoint/2010/main" val="2501742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fontScale="92500" lnSpcReduction="10000"/>
          </a:bodyPr>
          <a:lstStyle/>
          <a:p>
            <a:r>
              <a:rPr lang="en-US" b="1" u="sng" dirty="0"/>
              <a:t>Location in Documents:</a:t>
            </a:r>
            <a:endParaRPr lang="en-GB" dirty="0"/>
          </a:p>
          <a:p>
            <a:r>
              <a:rPr lang="en-US" dirty="0"/>
              <a:t>Abstracts are commonly found at the beginning of academic papers.</a:t>
            </a:r>
            <a:endParaRPr lang="en-GB" dirty="0"/>
          </a:p>
          <a:p>
            <a:r>
              <a:rPr lang="en-US" dirty="0"/>
              <a:t>Summaries can be found in various locations depending on the context.</a:t>
            </a:r>
            <a:endParaRPr lang="en-GB" dirty="0"/>
          </a:p>
          <a:p>
            <a:r>
              <a:rPr lang="en-US" dirty="0"/>
              <a:t>Executive summaries are typically placed at the </a:t>
            </a:r>
            <a:r>
              <a:rPr lang="en-US"/>
              <a:t>beginning of </a:t>
            </a:r>
            <a:r>
              <a:rPr lang="en-US" dirty="0"/>
              <a:t>reports.</a:t>
            </a:r>
            <a:endParaRPr lang="en-GB" dirty="0"/>
          </a:p>
          <a:p>
            <a:r>
              <a:rPr lang="en-US" dirty="0"/>
              <a:t>In summary, while all three terms involve presenting a condensed version of information, their length, audience, and purpose can vary significantly, making each suitable for specific contexts and audiences.</a:t>
            </a:r>
            <a:endParaRPr lang="en-GB" dirty="0"/>
          </a:p>
          <a:p>
            <a:r>
              <a:rPr lang="en-US" dirty="0"/>
              <a:t> </a:t>
            </a:r>
            <a:endParaRPr lang="en-GB" dirty="0"/>
          </a:p>
          <a:p>
            <a:pPr marL="109728" indent="0">
              <a:buNone/>
            </a:pPr>
            <a:endParaRPr lang="en-GB" dirty="0"/>
          </a:p>
          <a:p>
            <a:endParaRPr lang="en-GB" dirty="0"/>
          </a:p>
        </p:txBody>
      </p:sp>
      <p:sp>
        <p:nvSpPr>
          <p:cNvPr id="3" name="Title 2"/>
          <p:cNvSpPr>
            <a:spLocks noGrp="1"/>
          </p:cNvSpPr>
          <p:nvPr>
            <p:ph type="title"/>
          </p:nvPr>
        </p:nvSpPr>
        <p:spPr/>
        <p:txBody>
          <a:bodyPr>
            <a:normAutofit/>
          </a:bodyPr>
          <a:lstStyle/>
          <a:p>
            <a:pPr algn="ctr"/>
            <a:r>
              <a:rPr lang="en-US" u="sng" dirty="0"/>
              <a:t>Key Distinctions</a:t>
            </a:r>
            <a:endParaRPr lang="en-GB" dirty="0"/>
          </a:p>
        </p:txBody>
      </p:sp>
    </p:spTree>
    <p:extLst>
      <p:ext uri="{BB962C8B-B14F-4D97-AF65-F5344CB8AC3E}">
        <p14:creationId xmlns:p14="http://schemas.microsoft.com/office/powerpoint/2010/main" val="1437516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F0DEDA-5BBD-4B13-26BA-0665A00251B0}"/>
              </a:ext>
            </a:extLst>
          </p:cNvPr>
          <p:cNvSpPr>
            <a:spLocks noGrp="1"/>
          </p:cNvSpPr>
          <p:nvPr>
            <p:ph idx="1"/>
          </p:nvPr>
        </p:nvSpPr>
        <p:spPr>
          <a:xfrm>
            <a:off x="228600" y="1481328"/>
            <a:ext cx="8686800" cy="5102034"/>
          </a:xfrm>
        </p:spPr>
        <p:txBody>
          <a:bodyPr>
            <a:normAutofit fontScale="47500" lnSpcReduction="20000"/>
          </a:bodyPr>
          <a:lstStyle/>
          <a:p>
            <a:pPr marL="109728" indent="0" algn="just">
              <a:buNone/>
            </a:pPr>
            <a:r>
              <a:rPr lang="en-US" sz="3200" b="1" dirty="0"/>
              <a:t>Abstract:</a:t>
            </a:r>
            <a:r>
              <a:rPr lang="en-US" sz="3200" dirty="0"/>
              <a:t> The rapid development of artificial intelligence writing tools has significantly influenced academic writing practices, raising questions about linguistic patterns, authorship, and writing pedagogy. This study presents a corpus-based comparison of AI-generated essays and student-written academic essays to examine differences in lexical, grammatical, and discourse features. Corpus linguistics provides systematic tools for analyzing large amounts of textual data and identifying recurring linguistic patterns (Biber, Conrad, &amp; Reppen, 1998). Similarly, recent research has highlighted the growing role of AI tools in shaping academic discourse and writing practices (Hyland, 2022).</a:t>
            </a:r>
          </a:p>
          <a:p>
            <a:pPr marL="109728" indent="0" algn="just">
              <a:buNone/>
            </a:pPr>
            <a:r>
              <a:rPr lang="en-US" sz="3200" dirty="0"/>
              <a:t>	Two small corpora were compiled for this study: one consisting of essays generated using different AI writing tools and the other consisting of essays written by undergraduate students enrolled in a writing course at NUST. Each corpus contained approximately equal numbers of words to ensure comparability. The corpora were analyzed using </a:t>
            </a:r>
            <a:r>
              <a:rPr lang="en-US" sz="3200" dirty="0" err="1"/>
              <a:t>AntConc</a:t>
            </a:r>
            <a:r>
              <a:rPr lang="en-US" sz="3200" dirty="0"/>
              <a:t>. The analysis focused on word frequency lists, keyword analysis, collocations, lexical diversity, modal verbs, hedging devices, and cohesive markers. Concordance analysis was also conducted to examine the contextual use of selected academic vocabulary and stance markers.</a:t>
            </a:r>
          </a:p>
          <a:p>
            <a:pPr marL="109728" indent="0" algn="just">
              <a:buNone/>
            </a:pPr>
            <a:r>
              <a:rPr lang="en-US" sz="3200" dirty="0"/>
              <a:t>	Preliminary findings suggest that AI-generated essays demonstrate more standardized academic vocabulary, higher use of cohesive devices, and more consistent grammatical structures, whereas student essays show greater variation in sentence structures and more personal stance expressions. However, student writing also displayed less consistent use of hedging and academic stance markers. The study highlights important implications for academic writing instruction, assessment practices, and the role of AI in higher education. It also demonstrates how corpus-based methods can be used to analyze emerging forms of digital academic discourse.</a:t>
            </a:r>
          </a:p>
          <a:p>
            <a:pPr algn="just"/>
            <a:endParaRPr lang="en-US" dirty="0"/>
          </a:p>
        </p:txBody>
      </p:sp>
      <p:sp>
        <p:nvSpPr>
          <p:cNvPr id="3" name="Title 2">
            <a:extLst>
              <a:ext uri="{FF2B5EF4-FFF2-40B4-BE49-F238E27FC236}">
                <a16:creationId xmlns:a16="http://schemas.microsoft.com/office/drawing/2014/main" id="{9A38B67B-41B8-90BC-28CC-A156C23636AB}"/>
              </a:ext>
            </a:extLst>
          </p:cNvPr>
          <p:cNvSpPr>
            <a:spLocks noGrp="1"/>
          </p:cNvSpPr>
          <p:nvPr>
            <p:ph type="title"/>
          </p:nvPr>
        </p:nvSpPr>
        <p:spPr/>
        <p:txBody>
          <a:bodyPr/>
          <a:lstStyle/>
          <a:p>
            <a:r>
              <a:rPr lang="en-US" dirty="0"/>
              <a:t>Example of an Abstract</a:t>
            </a:r>
          </a:p>
        </p:txBody>
      </p:sp>
    </p:spTree>
    <p:extLst>
      <p:ext uri="{BB962C8B-B14F-4D97-AF65-F5344CB8AC3E}">
        <p14:creationId xmlns:p14="http://schemas.microsoft.com/office/powerpoint/2010/main" val="80217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3D6765-2146-DF34-9830-9821100FFB0F}"/>
              </a:ext>
            </a:extLst>
          </p:cNvPr>
          <p:cNvSpPr>
            <a:spLocks noGrp="1"/>
          </p:cNvSpPr>
          <p:nvPr>
            <p:ph idx="1"/>
          </p:nvPr>
        </p:nvSpPr>
        <p:spPr>
          <a:xfrm>
            <a:off x="152400" y="838200"/>
            <a:ext cx="8839200" cy="5745162"/>
          </a:xfrm>
        </p:spPr>
        <p:txBody>
          <a:bodyPr>
            <a:normAutofit fontScale="47500" lnSpcReduction="20000"/>
          </a:bodyPr>
          <a:lstStyle/>
          <a:p>
            <a:pPr marL="109728" indent="0">
              <a:buNone/>
            </a:pPr>
            <a:r>
              <a:rPr lang="en-US" dirty="0"/>
              <a:t>This study examines the influence of artificial intelligence (AI) writing tools on academic writing by comparing AI-generated essays with essays written by undergraduate students at NUST. Using a corpus-based approach, the research identifies key differences in lexical, grammatical, and discourse-level features, with a focus on implications for writing pedagogy and assessment.</a:t>
            </a:r>
          </a:p>
          <a:p>
            <a:pPr marL="109728" indent="0">
              <a:buNone/>
            </a:pPr>
            <a:r>
              <a:rPr lang="en-US" dirty="0"/>
              <a:t>Two comparable corpora were compiled: one consisting of AI-generated essays and the other of student-written essays. Both datasets were equal in size to ensure analytical validity. The analysis was conducted using </a:t>
            </a:r>
            <a:r>
              <a:rPr lang="en-US" dirty="0" err="1"/>
              <a:t>AntConc</a:t>
            </a:r>
            <a:r>
              <a:rPr lang="en-US" dirty="0"/>
              <a:t> and included techniques such as frequency analysis, keyword analysis, collocations, lexical diversity, and examination of modal verbs, hedging devices, and cohesive markers. Concordance analysis further supported contextual interpretation of academic vocabulary and stance markers.</a:t>
            </a:r>
          </a:p>
          <a:p>
            <a:pPr marL="109728" indent="0">
              <a:buNone/>
            </a:pPr>
            <a:r>
              <a:rPr lang="en-US" dirty="0"/>
              <a:t>The findings reveal systematic differences between AI and student writing, particularly in terms of consistency, variation, and stance expression.</a:t>
            </a:r>
          </a:p>
          <a:p>
            <a:pPr marL="109728" indent="0">
              <a:buNone/>
            </a:pPr>
            <a:r>
              <a:rPr lang="en-US" b="1" dirty="0"/>
              <a:t>Key Findings:</a:t>
            </a:r>
            <a:endParaRPr lang="en-US" dirty="0"/>
          </a:p>
          <a:p>
            <a:r>
              <a:rPr lang="en-US" dirty="0"/>
              <a:t>AI-generated essays demonstrate more standardized academic vocabulary and formulaic expressions. </a:t>
            </a:r>
          </a:p>
          <a:p>
            <a:r>
              <a:rPr lang="en-US" dirty="0"/>
              <a:t>Greater use of cohesive devices is observed in AI-generated texts, contributing to smoother textual flow. </a:t>
            </a:r>
          </a:p>
          <a:p>
            <a:r>
              <a:rPr lang="en-US" dirty="0"/>
              <a:t>AI writing shows highly consistent grammatical structures with fewer deviations. </a:t>
            </a:r>
          </a:p>
          <a:p>
            <a:r>
              <a:rPr lang="en-US" dirty="0"/>
              <a:t>Student essays exhibit greater syntactic variation and flexibility in sentence construction. </a:t>
            </a:r>
          </a:p>
          <a:p>
            <a:r>
              <a:rPr lang="en-US" dirty="0"/>
              <a:t>Stronger presence of personal voice and stance is evident in student writing. </a:t>
            </a:r>
          </a:p>
          <a:p>
            <a:r>
              <a:rPr lang="en-US" dirty="0"/>
              <a:t>Inconsistent use of hedging devices and academic stance markers is a notable limitation in student essays. </a:t>
            </a:r>
          </a:p>
          <a:p>
            <a:pPr marL="109728" indent="0">
              <a:buNone/>
            </a:pPr>
            <a:r>
              <a:rPr lang="en-US" b="1" dirty="0"/>
              <a:t>Implications:</a:t>
            </a:r>
            <a:endParaRPr lang="en-US" dirty="0"/>
          </a:p>
          <a:p>
            <a:r>
              <a:rPr lang="en-US" dirty="0"/>
              <a:t>Traditional assessment criteria may need revision due to the polished and uniform nature of AI-generated text. </a:t>
            </a:r>
          </a:p>
          <a:p>
            <a:r>
              <a:rPr lang="en-US" dirty="0"/>
              <a:t>Writing instruction should place increased emphasis on teaching hedging, stance, and academic tone. </a:t>
            </a:r>
          </a:p>
          <a:p>
            <a:r>
              <a:rPr lang="en-US" dirty="0"/>
              <a:t>Educators must address the integration of AI tools while maintaining academic integrity. </a:t>
            </a:r>
          </a:p>
          <a:p>
            <a:r>
              <a:rPr lang="en-US" dirty="0"/>
              <a:t>Corpus-based methodologies provide a robust framework for analyzing emerging trends in digital academic discourse. </a:t>
            </a:r>
          </a:p>
          <a:p>
            <a:pPr marL="109728" indent="0">
              <a:buNone/>
            </a:pPr>
            <a:r>
              <a:rPr lang="en-US" dirty="0"/>
              <a:t>Overall, the study highlights the transformative role of AI in academic writing and underscores the need for adaptive pedagogical strategies in higher education.</a:t>
            </a:r>
          </a:p>
          <a:p>
            <a:endParaRPr lang="en-US" dirty="0"/>
          </a:p>
        </p:txBody>
      </p:sp>
      <p:sp>
        <p:nvSpPr>
          <p:cNvPr id="3" name="Title 2">
            <a:extLst>
              <a:ext uri="{FF2B5EF4-FFF2-40B4-BE49-F238E27FC236}">
                <a16:creationId xmlns:a16="http://schemas.microsoft.com/office/drawing/2014/main" id="{B4567847-162C-9FE7-56D7-581858D0ACAF}"/>
              </a:ext>
            </a:extLst>
          </p:cNvPr>
          <p:cNvSpPr>
            <a:spLocks noGrp="1"/>
          </p:cNvSpPr>
          <p:nvPr>
            <p:ph type="title"/>
          </p:nvPr>
        </p:nvSpPr>
        <p:spPr>
          <a:xfrm>
            <a:off x="457200" y="274638"/>
            <a:ext cx="8229600" cy="411162"/>
          </a:xfrm>
        </p:spPr>
        <p:txBody>
          <a:bodyPr>
            <a:normAutofit fontScale="90000"/>
          </a:bodyPr>
          <a:lstStyle/>
          <a:p>
            <a:r>
              <a:rPr lang="en-US" dirty="0"/>
              <a:t>Example of an Executive Summary</a:t>
            </a:r>
          </a:p>
        </p:txBody>
      </p:sp>
    </p:spTree>
    <p:extLst>
      <p:ext uri="{BB962C8B-B14F-4D97-AF65-F5344CB8AC3E}">
        <p14:creationId xmlns:p14="http://schemas.microsoft.com/office/powerpoint/2010/main" val="1475293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0DBD63-6A04-BFE2-4F27-6E482CC2CCEE}"/>
              </a:ext>
            </a:extLst>
          </p:cNvPr>
          <p:cNvSpPr>
            <a:spLocks noGrp="1"/>
          </p:cNvSpPr>
          <p:nvPr>
            <p:ph type="title"/>
          </p:nvPr>
        </p:nvSpPr>
        <p:spPr/>
        <p:txBody>
          <a:bodyPr/>
          <a:lstStyle/>
          <a:p>
            <a:r>
              <a:rPr lang="en-US" dirty="0"/>
              <a:t>Takeaway from today:</a:t>
            </a:r>
          </a:p>
        </p:txBody>
      </p:sp>
      <p:sp>
        <p:nvSpPr>
          <p:cNvPr id="4" name="Rectangle 1">
            <a:extLst>
              <a:ext uri="{FF2B5EF4-FFF2-40B4-BE49-F238E27FC236}">
                <a16:creationId xmlns:a16="http://schemas.microsoft.com/office/drawing/2014/main" id="{96F62C95-0495-4534-F063-F4766D0AA3F2}"/>
              </a:ext>
            </a:extLst>
          </p:cNvPr>
          <p:cNvSpPr>
            <a:spLocks noGrp="1" noChangeArrowheads="1"/>
          </p:cNvSpPr>
          <p:nvPr>
            <p:ph idx="1"/>
          </p:nvPr>
        </p:nvSpPr>
        <p:spPr bwMode="auto">
          <a:xfrm>
            <a:off x="457201" y="1237273"/>
            <a:ext cx="8001000" cy="5014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Abstract = “What was done and what was found”</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Executive Summary = “What matters and what should be done”</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578758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a:bodyPr>
          <a:lstStyle/>
          <a:p>
            <a:pPr marL="109728" indent="0" algn="ctr">
              <a:buNone/>
            </a:pPr>
            <a:r>
              <a:rPr lang="en-GB" sz="7200" dirty="0"/>
              <a:t>Thank You</a:t>
            </a:r>
          </a:p>
          <a:p>
            <a:endParaRPr lang="en-GB" dirty="0"/>
          </a:p>
        </p:txBody>
      </p:sp>
    </p:spTree>
    <p:extLst>
      <p:ext uri="{BB962C8B-B14F-4D97-AF65-F5344CB8AC3E}">
        <p14:creationId xmlns:p14="http://schemas.microsoft.com/office/powerpoint/2010/main" val="21742854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43</TotalTime>
  <Words>1257</Words>
  <Application>Microsoft Office PowerPoint</Application>
  <PresentationFormat>On-screen Show (4:3)</PresentationFormat>
  <Paragraphs>89</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Calibri</vt:lpstr>
      <vt:lpstr>Lucida Sans Unicode</vt:lpstr>
      <vt:lpstr>Times New Roman</vt:lpstr>
      <vt:lpstr>Verdana</vt:lpstr>
      <vt:lpstr>Wingdings 2</vt:lpstr>
      <vt:lpstr>Wingdings 3</vt:lpstr>
      <vt:lpstr>Concourse</vt:lpstr>
      <vt:lpstr>Default Design</vt:lpstr>
      <vt:lpstr>PowerPoint Presentation</vt:lpstr>
      <vt:lpstr>Topic</vt:lpstr>
      <vt:lpstr>Abstract</vt:lpstr>
      <vt:lpstr>PowerPoint Presentation</vt:lpstr>
      <vt:lpstr>Summary</vt:lpstr>
      <vt:lpstr>Executive Summary</vt:lpstr>
      <vt:lpstr>Key Distinctions</vt:lpstr>
      <vt:lpstr>Key Distinctions</vt:lpstr>
      <vt:lpstr>Example of an Abstract</vt:lpstr>
      <vt:lpstr>Example of an Executive Summary</vt:lpstr>
      <vt:lpstr>Takeaway from today: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English</dc:title>
  <dc:creator>Neelma Riaz</dc:creator>
  <cp:lastModifiedBy>Samia Tahir</cp:lastModifiedBy>
  <cp:revision>3</cp:revision>
  <dcterms:created xsi:type="dcterms:W3CDTF">2006-08-16T00:00:00Z</dcterms:created>
  <dcterms:modified xsi:type="dcterms:W3CDTF">2026-04-17T05:34:53Z</dcterms:modified>
</cp:coreProperties>
</file>