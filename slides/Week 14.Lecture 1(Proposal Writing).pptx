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07" r:id="rId2"/>
  </p:sldMasterIdLst>
  <p:notesMasterIdLst>
    <p:notesMasterId r:id="rId12"/>
  </p:notesMasterIdLst>
  <p:sldIdLst>
    <p:sldId id="303" r:id="rId3"/>
    <p:sldId id="305" r:id="rId4"/>
    <p:sldId id="306" r:id="rId5"/>
    <p:sldId id="319" r:id="rId6"/>
    <p:sldId id="307" r:id="rId7"/>
    <p:sldId id="320" r:id="rId8"/>
    <p:sldId id="308" r:id="rId9"/>
    <p:sldId id="309" r:id="rId10"/>
    <p:sldId id="310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0000"/>
    <a:srgbClr val="33CC33"/>
    <a:srgbClr val="FF9933"/>
    <a:srgbClr val="00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>
      <p:cViewPr varScale="1">
        <p:scale>
          <a:sx n="65" d="100"/>
          <a:sy n="65" d="100"/>
        </p:scale>
        <p:origin x="93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a Tahir" userId="f44931ca-6f51-4a43-bfc6-32a687aa5826" providerId="ADAL" clId="{24B98FCD-861F-42BA-8942-A62C06C41194}"/>
    <pc:docChg chg="delSld modSld">
      <pc:chgData name="Samia Tahir" userId="f44931ca-6f51-4a43-bfc6-32a687aa5826" providerId="ADAL" clId="{24B98FCD-861F-42BA-8942-A62C06C41194}" dt="2026-04-20T08:54:59.118" v="46" actId="2696"/>
      <pc:docMkLst>
        <pc:docMk/>
      </pc:docMkLst>
      <pc:sldChg chg="modSp">
        <pc:chgData name="Samia Tahir" userId="f44931ca-6f51-4a43-bfc6-32a687aa5826" providerId="ADAL" clId="{24B98FCD-861F-42BA-8942-A62C06C41194}" dt="2026-04-17T06:20:52.420" v="0" actId="14100"/>
        <pc:sldMkLst>
          <pc:docMk/>
          <pc:sldMk cId="0" sldId="309"/>
        </pc:sldMkLst>
        <pc:spChg chg="mod">
          <ac:chgData name="Samia Tahir" userId="f44931ca-6f51-4a43-bfc6-32a687aa5826" providerId="ADAL" clId="{24B98FCD-861F-42BA-8942-A62C06C41194}" dt="2026-04-17T06:20:52.420" v="0" actId="14100"/>
          <ac:spMkLst>
            <pc:docMk/>
            <pc:sldMk cId="0" sldId="309"/>
            <ac:spMk id="10243" creationId="{63D2F489-112D-51E0-04EE-0CCE8F36735C}"/>
          </ac:spMkLst>
        </pc:spChg>
      </pc:sldChg>
      <pc:sldChg chg="modSp del mod">
        <pc:chgData name="Samia Tahir" userId="f44931ca-6f51-4a43-bfc6-32a687aa5826" providerId="ADAL" clId="{24B98FCD-861F-42BA-8942-A62C06C41194}" dt="2026-04-20T08:54:59.118" v="46" actId="2696"/>
        <pc:sldMkLst>
          <pc:docMk/>
          <pc:sldMk cId="0" sldId="313"/>
        </pc:sldMkLst>
      </pc:sldChg>
      <pc:sldChg chg="del">
        <pc:chgData name="Samia Tahir" userId="f44931ca-6f51-4a43-bfc6-32a687aa5826" providerId="ADAL" clId="{24B98FCD-861F-42BA-8942-A62C06C41194}" dt="2026-04-20T08:54:59.118" v="46" actId="2696"/>
        <pc:sldMkLst>
          <pc:docMk/>
          <pc:sldMk cId="0" sldId="314"/>
        </pc:sldMkLst>
      </pc:sldChg>
      <pc:sldChg chg="del">
        <pc:chgData name="Samia Tahir" userId="f44931ca-6f51-4a43-bfc6-32a687aa5826" providerId="ADAL" clId="{24B98FCD-861F-42BA-8942-A62C06C41194}" dt="2026-04-20T08:54:59.118" v="46" actId="2696"/>
        <pc:sldMkLst>
          <pc:docMk/>
          <pc:sldMk cId="0" sldId="315"/>
        </pc:sldMkLst>
      </pc:sldChg>
      <pc:sldChg chg="del">
        <pc:chgData name="Samia Tahir" userId="f44931ca-6f51-4a43-bfc6-32a687aa5826" providerId="ADAL" clId="{24B98FCD-861F-42BA-8942-A62C06C41194}" dt="2026-04-20T08:54:59.118" v="46" actId="2696"/>
        <pc:sldMkLst>
          <pc:docMk/>
          <pc:sldMk cId="0" sldId="316"/>
        </pc:sldMkLst>
      </pc:sldChg>
      <pc:sldChg chg="modSp del mod">
        <pc:chgData name="Samia Tahir" userId="f44931ca-6f51-4a43-bfc6-32a687aa5826" providerId="ADAL" clId="{24B98FCD-861F-42BA-8942-A62C06C41194}" dt="2026-04-20T08:54:59.118" v="46" actId="2696"/>
        <pc:sldMkLst>
          <pc:docMk/>
          <pc:sldMk cId="0" sldId="317"/>
        </pc:sldMkLst>
      </pc:sldChg>
      <pc:sldChg chg="del">
        <pc:chgData name="Samia Tahir" userId="f44931ca-6f51-4a43-bfc6-32a687aa5826" providerId="ADAL" clId="{24B98FCD-861F-42BA-8942-A62C06C41194}" dt="2026-04-20T08:54:59.118" v="46" actId="2696"/>
        <pc:sldMkLst>
          <pc:docMk/>
          <pc:sldMk cId="0" sldId="318"/>
        </pc:sldMkLst>
      </pc:sldChg>
      <pc:sldChg chg="modSp del mod">
        <pc:chgData name="Samia Tahir" userId="f44931ca-6f51-4a43-bfc6-32a687aa5826" providerId="ADAL" clId="{24B98FCD-861F-42BA-8942-A62C06C41194}" dt="2026-04-20T08:54:59.118" v="46" actId="2696"/>
        <pc:sldMkLst>
          <pc:docMk/>
          <pc:sldMk cId="0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542AFA38-4DAA-7708-6712-FC0CDD2091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05E7FD58-5297-F0C5-E790-5C8E6A5FEBF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6FB6EFA-B652-1C24-E301-6BA17B2CD99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95D9DD2E-A1F3-F6BE-BEA7-3427330B8BE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7FDF2C3B-C31B-2799-9284-8BD7A8E56A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7212C82D-2228-A8C0-FBFE-D2F898A2F9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68C5E6D-3BBE-46D0-A09F-8278AB5D6A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E154B5-4E24-FA95-8BF7-CB79DB7B6B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EDC472-CC8C-9FC7-B279-B72B33271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66C9D5-022E-460D-2C81-D0DF5574BE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F806D6-F3E1-40A4-97F5-EBC3284F80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72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2CB8A5-B109-7C75-637B-6854711DD9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79A9F7-C987-2EE8-703A-FBB7511AC0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AB7D78-E53A-B340-307D-6764A877B8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8261B-ADB2-4B60-8296-0B5DC772F9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738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1356B2-76C6-DE2A-661F-7AE1902D9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821C7F-74C6-34C1-7FEF-5203875B9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7DF091-BF91-5985-1BB9-A7E25A3948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F135F-226A-44F1-8458-653A731E37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09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D55432-9238-C145-A2DD-D55701BB44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7C3BB-93A8-D34D-DFE7-0D2A340A80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BE2E29-01C0-B088-D3C6-1E6D352D29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575AB-F552-46A2-A8A8-95E0E4BC1D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68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8AF93C-B026-B33A-D20F-0106A8CD74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7FCDE37-C193-9435-D08C-ADE7CDD0AB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4899C5D-3ABE-A07E-B685-3C8B860C3E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DA35-48D7-41C5-B190-1F948FADD7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0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B11A60D-0913-5AB3-D40A-24C815B44C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5CF291-710F-38DD-A3EF-047F2AA5FA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785C3C-BC29-5973-A99E-6E15B585D2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CA9E80-93FA-4DB9-8F44-C5B2C2B4F3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994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7FDC0A7-A8F1-6CA3-671E-AE93BEA4C2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EB713BF-D806-E605-CBBD-D71875DDB2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FB79D01-9D2D-C76B-34FE-E3B7BC25B9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E430A-D9F6-4AE1-BF25-EF60984EBF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1011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4ED96D-4F4D-59DB-6416-ADCB543831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CA92F1-8BBB-93B4-A8D3-63817F588E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A514CC-AFAA-0E40-B38B-6F9F5CAE10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789475-B092-41C7-A913-7AF1735FE4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92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F666F0-08E5-8F70-E9C7-E257395EE8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2F777C-A731-04B7-A3C2-E66F3E209E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E788B-4902-62B6-5AB6-AEF6D46AD3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CF7DF6-F3E9-4ED2-91B7-846ADD0ABA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08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F64EDB-5394-BB0E-C7E6-69E794D39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0BCA89-B9C1-CC88-1A7E-E1C3C35BC8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7162D1-5CD7-6B52-4214-44D33CAAF6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F3EF5-8E36-49FC-A497-2F9C0528A6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773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63A287-ABF5-EA3A-C530-513A296498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4D1EF6-0B4F-B099-C86F-D125E0DF52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58AD24-68D5-8FEF-9D14-ED4B8045AF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38961-E344-402A-B555-7251458FB3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954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548640" indent="0" algn="ctr">
              <a:buNone/>
              <a:defRPr/>
            </a:lvl2pPr>
            <a:lvl3pPr marL="1097280" indent="0" algn="ctr">
              <a:buNone/>
              <a:defRPr/>
            </a:lvl3pPr>
            <a:lvl4pPr marL="1645920" indent="0" algn="ctr">
              <a:buNone/>
              <a:defRPr/>
            </a:lvl4pPr>
            <a:lvl5pPr marL="2194560" indent="0" algn="ctr">
              <a:buNone/>
              <a:defRPr/>
            </a:lvl5pPr>
            <a:lvl6pPr marL="2743200" indent="0" algn="ctr">
              <a:buNone/>
              <a:defRPr/>
            </a:lvl6pPr>
            <a:lvl7pPr marL="3291840" indent="0" algn="ctr">
              <a:buNone/>
              <a:defRPr/>
            </a:lvl7pPr>
            <a:lvl8pPr marL="3840480" indent="0" algn="ctr">
              <a:buNone/>
              <a:defRPr/>
            </a:lvl8pPr>
            <a:lvl9pPr marL="438912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B43A17-3682-5EC7-35B7-6FF0375780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CA67A7-45CD-1ECE-F396-03D72755EF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BCE465-7905-41E3-CCA2-F1E26AB948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42FE28-6635-4D21-B488-2DFE69958C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064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BDE853-F6DC-7C11-A602-EC755FD815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5335181-828C-2A24-06B6-8D51F95887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6ECA6F-ECEF-B6D2-BE26-144319DE2C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F72C69-5FD1-4B85-8A81-8838FAD10C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484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/>
            </a:lvl1pPr>
            <a:lvl2pPr marL="548640" indent="0">
              <a:buNone/>
              <a:defRPr sz="2160"/>
            </a:lvl2pPr>
            <a:lvl3pPr marL="1097280" indent="0">
              <a:buNone/>
              <a:defRPr sz="1920"/>
            </a:lvl3pPr>
            <a:lvl4pPr marL="1645920" indent="0">
              <a:buNone/>
              <a:defRPr sz="1680"/>
            </a:lvl4pPr>
            <a:lvl5pPr marL="2194560" indent="0">
              <a:buNone/>
              <a:defRPr sz="1680"/>
            </a:lvl5pPr>
            <a:lvl6pPr marL="2743200" indent="0">
              <a:buNone/>
              <a:defRPr sz="1680"/>
            </a:lvl6pPr>
            <a:lvl7pPr marL="3291840" indent="0">
              <a:buNone/>
              <a:defRPr sz="1680"/>
            </a:lvl7pPr>
            <a:lvl8pPr marL="3840480" indent="0">
              <a:buNone/>
              <a:defRPr sz="1680"/>
            </a:lvl8pPr>
            <a:lvl9pPr marL="4389120" indent="0">
              <a:buNone/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493686-79DF-5AA9-54A8-893ED9F95D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B15245-2021-ACE6-B201-123D3E0FE5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6E634A-5AD6-150C-5F32-C9C79DB2D0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4BE26A-0F1E-496A-8F4A-C004F8FEA5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831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35DEA-DAC8-B9C0-E84E-506E7E513F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6EE69-BD45-6A1A-BE47-B6B41BC354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D1B17A-9040-58E7-84C2-D18640836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1C3187-4A2D-4761-B89F-516EB939F3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1577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7AC1576-D686-7B2D-987D-5BD4F2111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36CBDE-9AC1-CF8A-1152-38EB8FF830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02C584F-D844-86E9-3F47-65A897D37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80D2B2-23B4-45B7-A637-B0BF1D5525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4019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037B82B-8913-EA77-CA9B-8EE649AC42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6F14789-1208-4FFD-E1C7-98FD676134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26741A-06CF-8465-6112-088549848E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269B1F-400A-4101-9C98-2E743B1E42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09503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9A2A930-01DC-950C-ACB5-C01DEE876E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73BFAC8-EC86-A027-9F7A-9FF4BC88F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BA3D117-5EEB-A9DE-678E-097314D0B4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50F7A2-355E-4564-A457-0FE6BE7683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067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6F3806-E4FC-4911-595E-8F48C3A7AD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85E03D-0226-CD8A-1236-0EE19AFD86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510531-3C31-9497-C7A5-BF8E175499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E8386-22CC-420A-8EB1-BEDBE6AF18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281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5E3B8A-D451-CC9F-ADA9-42B8D3630B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EA751F-E312-B380-D6C5-0809ED771E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C6298-5925-DF29-B7A0-4B2173508E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A257E-9A88-4191-AED9-8B453183D9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067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E09C99-C58A-D7E5-E111-5A01B8BF0B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AB50D3-25E6-EF94-A77A-FA1D2592CF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179458-9010-6B1F-75C3-8E678AC3C4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80042-932C-4156-8158-BFDBDC17E1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1615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E35295-7E63-F16E-FDCF-5AC0F795D7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B07D6E-2661-0FFE-9FFE-8AA4500A04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1E80AF-B614-6BAF-65C0-EB392CA593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5AFD8-12E4-4FC0-B43A-54FF1CC6A2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332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4A4670-C714-218E-7DAC-5D86EF6DF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561EA04-0B35-2DDF-A826-157A060EE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7CC5BAC6-1D68-B81F-EDD7-43D29DE288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24B2F25D-1409-3571-AD09-F9A4C10909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8836B96D-AD9D-FA34-B719-3D9E8E3A5E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24B36CE-3D14-4C40-94E3-84B44F25C7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611BF4-3A0D-ABF3-2E6A-73E9165A9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04BDC0-5370-85B9-21DE-89326043F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5314376C-C4F0-7EC4-DDE4-279E4E7F60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4591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68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8E643931-C755-B488-F472-181551673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4591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68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Discrete Structures</a:t>
            </a:r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81AD8A79-C8D9-EEEF-66A0-CEACD62351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4591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680"/>
            </a:lvl1pPr>
          </a:lstStyle>
          <a:p>
            <a:pPr>
              <a:defRPr/>
            </a:pPr>
            <a:fld id="{B5BBD657-FAAB-4119-8120-5B3A252003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59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charset="0"/>
          <a:cs typeface="Arial" charset="0"/>
        </a:defRPr>
      </a:lvl5pPr>
      <a:lvl6pPr marL="548640" algn="ctr" rtl="0" fontAlgn="base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charset="0"/>
          <a:cs typeface="Arial" charset="0"/>
        </a:defRPr>
      </a:lvl6pPr>
      <a:lvl7pPr marL="1097280" algn="ctr" rtl="0" fontAlgn="base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charset="0"/>
          <a:cs typeface="Arial" charset="0"/>
        </a:defRPr>
      </a:lvl7pPr>
      <a:lvl8pPr marL="1645920" algn="ctr" rtl="0" fontAlgn="base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charset="0"/>
          <a:cs typeface="Arial" charset="0"/>
        </a:defRPr>
      </a:lvl8pPr>
      <a:lvl9pPr marL="2194560" algn="ctr" rtl="0" fontAlgn="base">
        <a:spcBef>
          <a:spcPct val="0"/>
        </a:spcBef>
        <a:spcAft>
          <a:spcPct val="0"/>
        </a:spcAft>
        <a:defRPr sz="528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411480" indent="-411480" algn="l" rtl="0" eaLnBrk="0" fontAlgn="base" hangingPunct="0">
        <a:spcBef>
          <a:spcPct val="20000"/>
        </a:spcBef>
        <a:spcAft>
          <a:spcPct val="0"/>
        </a:spcAft>
        <a:buChar char="•"/>
        <a:defRPr sz="384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hangingPunct="0">
        <a:spcBef>
          <a:spcPct val="20000"/>
        </a:spcBef>
        <a:spcAft>
          <a:spcPct val="0"/>
        </a:spcAft>
        <a:buChar char="–"/>
        <a:defRPr sz="3360">
          <a:solidFill>
            <a:schemeClr val="tx1"/>
          </a:solidFill>
          <a:latin typeface="+mn-lt"/>
          <a:cs typeface="+mn-cs"/>
        </a:defRPr>
      </a:lvl2pPr>
      <a:lvl3pPr marL="1371600" indent="-274320" algn="l" rtl="0" eaLnBrk="0" fontAlgn="base" hangingPunct="0">
        <a:spcBef>
          <a:spcPct val="20000"/>
        </a:spcBef>
        <a:spcAft>
          <a:spcPct val="0"/>
        </a:spcAft>
        <a:buChar char="•"/>
        <a:defRPr sz="2880">
          <a:solidFill>
            <a:schemeClr val="tx1"/>
          </a:solidFill>
          <a:latin typeface="+mn-lt"/>
          <a:cs typeface="+mn-cs"/>
        </a:defRPr>
      </a:lvl3pPr>
      <a:lvl4pPr marL="1920240" indent="-27432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cs typeface="+mn-cs"/>
        </a:defRPr>
      </a:lvl4pPr>
      <a:lvl5pPr marL="2468880" indent="-27432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5pPr>
      <a:lvl6pPr marL="3017520" indent="-27432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6pPr>
      <a:lvl7pPr marL="3566160" indent="-27432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7pPr>
      <a:lvl8pPr marL="4114800" indent="-27432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8pPr>
      <a:lvl9pPr marL="4663440" indent="-27432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2">
            <a:extLst>
              <a:ext uri="{FF2B5EF4-FFF2-40B4-BE49-F238E27FC236}">
                <a16:creationId xmlns:a16="http://schemas.microsoft.com/office/drawing/2014/main" id="{5EFBD27D-BD54-BD34-4CA5-80048CE91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ABA1DE-6834-413B-961F-BB695D0AE87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C7CFFB7-A565-296A-E1D9-6D9B6FC77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677988"/>
            <a:ext cx="7848600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endParaRPr lang="en-US" altLang="x-none" sz="2400" kern="0" dirty="0">
              <a:solidFill>
                <a:srgbClr val="008000"/>
              </a:solidFill>
            </a:endParaRPr>
          </a:p>
          <a:p>
            <a:pPr eaLnBrk="1" hangingPunct="1">
              <a:defRPr/>
            </a:pPr>
            <a:endParaRPr lang="en-US" altLang="x-none" sz="4800" kern="0" dirty="0">
              <a:solidFill>
                <a:srgbClr val="008000"/>
              </a:solidFill>
            </a:endParaRPr>
          </a:p>
          <a:p>
            <a:pPr eaLnBrk="1" hangingPunct="1">
              <a:defRPr/>
            </a:pPr>
            <a:endParaRPr lang="en-US" altLang="x-none" sz="2400" kern="0" dirty="0">
              <a:solidFill>
                <a:srgbClr val="008000"/>
              </a:solidFill>
            </a:endParaRPr>
          </a:p>
          <a:p>
            <a:pPr eaLnBrk="1" hangingPunct="1">
              <a:defRPr/>
            </a:pPr>
            <a:endParaRPr lang="en-US" altLang="x-none" sz="2400" kern="0" dirty="0">
              <a:solidFill>
                <a:srgbClr val="008000"/>
              </a:solidFill>
            </a:endParaRPr>
          </a:p>
          <a:p>
            <a:pPr eaLnBrk="1" hangingPunct="1">
              <a:defRPr/>
            </a:pPr>
            <a:endParaRPr lang="en-US" altLang="x-none" sz="2400" kern="0" dirty="0">
              <a:solidFill>
                <a:srgbClr val="008000"/>
              </a:solidFill>
            </a:endParaRPr>
          </a:p>
        </p:txBody>
      </p:sp>
      <p:sp>
        <p:nvSpPr>
          <p:cNvPr id="3076" name="Text Box 18">
            <a:extLst>
              <a:ext uri="{FF2B5EF4-FFF2-40B4-BE49-F238E27FC236}">
                <a16:creationId xmlns:a16="http://schemas.microsoft.com/office/drawing/2014/main" id="{9941B1F0-3364-E2B2-961A-32BC86ABB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350" y="2195513"/>
            <a:ext cx="777875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dirty="0"/>
              <a:t>Expository Writing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/>
              <a:t>ENGL-101</a:t>
            </a:r>
            <a:endParaRPr lang="en-US" altLang="en-US" sz="4000" dirty="0"/>
          </a:p>
        </p:txBody>
      </p:sp>
      <p:sp>
        <p:nvSpPr>
          <p:cNvPr id="3077" name="Line 23">
            <a:extLst>
              <a:ext uri="{FF2B5EF4-FFF2-40B4-BE49-F238E27FC236}">
                <a16:creationId xmlns:a16="http://schemas.microsoft.com/office/drawing/2014/main" id="{B4232F22-705A-E9FD-2AA2-39240B1F2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2050" y="2133600"/>
            <a:ext cx="0" cy="1008063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Line 22">
            <a:extLst>
              <a:ext uri="{FF2B5EF4-FFF2-40B4-BE49-F238E27FC236}">
                <a16:creationId xmlns:a16="http://schemas.microsoft.com/office/drawing/2014/main" id="{2D6A460A-77FE-78D2-9E9C-5C6AB2672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9288" y="2781300"/>
            <a:ext cx="8137525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80F634-D402-5C12-E229-76C2533B7651}"/>
              </a:ext>
            </a:extLst>
          </p:cNvPr>
          <p:cNvGraphicFramePr>
            <a:graphicFrameLocks noGrp="1"/>
          </p:cNvGraphicFramePr>
          <p:nvPr/>
        </p:nvGraphicFramePr>
        <p:xfrm>
          <a:off x="2640013" y="541338"/>
          <a:ext cx="6535737" cy="8001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1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3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endParaRPr lang="en-US" sz="10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72" marR="6857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400" dirty="0">
                          <a:effectLst/>
                        </a:rPr>
                        <a:t>National University of Sciences &amp; Technology (NUST)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400" dirty="0">
                          <a:effectLst/>
                        </a:rPr>
                        <a:t>School of Electrical Engineering and Computer Science (SEECS)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400" dirty="0">
                          <a:effectLst/>
                        </a:rPr>
                        <a:t>Department of Humanities &amp; Sciences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2" marR="68572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87" name="Picture 1" descr="01">
            <a:extLst>
              <a:ext uri="{FF2B5EF4-FFF2-40B4-BE49-F238E27FC236}">
                <a16:creationId xmlns:a16="http://schemas.microsoft.com/office/drawing/2014/main" id="{E3BC464F-91D8-46B1-A4AF-5F506D370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501650"/>
            <a:ext cx="8318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6" name="TextBox 4">
            <a:extLst>
              <a:ext uri="{FF2B5EF4-FFF2-40B4-BE49-F238E27FC236}">
                <a16:creationId xmlns:a16="http://schemas.microsoft.com/office/drawing/2014/main" id="{8B2B3E67-8563-DBF8-6153-E38BC5FA7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050" y="4437063"/>
            <a:ext cx="7119938" cy="18780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2800" u="sng" dirty="0">
                <a:solidFill>
                  <a:schemeClr val="accent2">
                    <a:lumMod val="50000"/>
                  </a:schemeClr>
                </a:solidFill>
              </a:rPr>
              <a:t>Course Instructor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: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Dr Samia Tahir</a:t>
            </a:r>
          </a:p>
          <a:p>
            <a:pPr>
              <a:defRPr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			 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			 </a:t>
            </a:r>
            <a:r>
              <a:rPr lang="en-US" sz="2000" dirty="0">
                <a:solidFill>
                  <a:srgbClr val="FF0000"/>
                </a:solidFill>
              </a:rPr>
              <a:t>Email: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samia.tahir@seecs.edu.pk</a:t>
            </a:r>
          </a:p>
          <a:p>
            <a:pPr>
              <a:defRPr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                                       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Office: 1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</a:rPr>
              <a:t>st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floor, PG block, SEECS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89" name="TextBox 2">
            <a:extLst>
              <a:ext uri="{FF2B5EF4-FFF2-40B4-BE49-F238E27FC236}">
                <a16:creationId xmlns:a16="http://schemas.microsoft.com/office/drawing/2014/main" id="{BCB40F58-1EA3-63F7-E07B-EF9A95367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050" y="3789363"/>
            <a:ext cx="241776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u="sng" dirty="0">
                <a:solidFill>
                  <a:schemeClr val="accent2"/>
                </a:solidFill>
              </a:rPr>
              <a:t>Week 14: Lecture # 1</a:t>
            </a:r>
          </a:p>
        </p:txBody>
      </p:sp>
    </p:spTree>
  </p:cSld>
  <p:clrMapOvr>
    <a:masterClrMapping/>
  </p:clrMapOvr>
  <p:transition advTm="3106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37FF1F44-A5F7-30DA-3658-A991E6807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Today’s Lecture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11327BD2-7BE1-25DF-B3DA-695AE8394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0591" y="1600200"/>
            <a:ext cx="5703570" cy="4983480"/>
          </a:xfrm>
        </p:spPr>
        <p:txBody>
          <a:bodyPr/>
          <a:lstStyle/>
          <a:p>
            <a:r>
              <a:rPr lang="en-US" altLang="en-US"/>
              <a:t>What is a Proposal?</a:t>
            </a:r>
          </a:p>
          <a:p>
            <a:r>
              <a:rPr lang="en-US" altLang="en-US"/>
              <a:t>Types of proposal</a:t>
            </a:r>
          </a:p>
          <a:p>
            <a:r>
              <a:rPr lang="en-US" altLang="en-US"/>
              <a:t>Proposal writing-an art of persuasion</a:t>
            </a:r>
          </a:p>
          <a:p>
            <a:r>
              <a:rPr lang="en-US" altLang="en-US"/>
              <a:t>Format of a proposal</a:t>
            </a:r>
          </a:p>
          <a:p>
            <a:endParaRPr lang="en-US" altLang="en-US"/>
          </a:p>
        </p:txBody>
      </p:sp>
      <p:pic>
        <p:nvPicPr>
          <p:cNvPr id="4100" name="Picture 2">
            <a:extLst>
              <a:ext uri="{FF2B5EF4-FFF2-40B4-BE49-F238E27FC236}">
                <a16:creationId xmlns:a16="http://schemas.microsoft.com/office/drawing/2014/main" id="{737CA853-97F5-8D9F-1EC9-A2E8314DB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60" y="1874520"/>
            <a:ext cx="4419600" cy="3800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FAC3905-3545-04AA-A92A-23FF9CFDC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240" y="274321"/>
            <a:ext cx="9875520" cy="735330"/>
          </a:xfrm>
        </p:spPr>
        <p:txBody>
          <a:bodyPr/>
          <a:lstStyle/>
          <a:p>
            <a:r>
              <a:rPr lang="en-US" altLang="en-US"/>
              <a:t>What is a proposal?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E460760-54E0-20AD-5AFE-BD73864B1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240" y="1183006"/>
            <a:ext cx="9875520" cy="5400674"/>
          </a:xfrm>
        </p:spPr>
        <p:txBody>
          <a:bodyPr/>
          <a:lstStyle/>
          <a:p>
            <a:r>
              <a:rPr lang="en-US" altLang="en-US" sz="3360"/>
              <a:t>All projects have to </a:t>
            </a:r>
            <a:r>
              <a:rPr lang="en-US" altLang="en-US" sz="3360" b="1"/>
              <a:t>begin somewhere and with someone</a:t>
            </a:r>
            <a:r>
              <a:rPr lang="en-US" altLang="en-US" sz="3360"/>
              <a:t>. In universities, in business, and in research organizations, the starting point is often a proposal. </a:t>
            </a:r>
          </a:p>
          <a:p>
            <a:r>
              <a:rPr lang="en-US" altLang="en-US" sz="3360"/>
              <a:t>In simplest terms, a proposal is </a:t>
            </a:r>
            <a:r>
              <a:rPr lang="en-US" altLang="en-US" sz="3360" b="1"/>
              <a:t>an offer to provide a service or a product to someone in exchange for money</a:t>
            </a:r>
            <a:r>
              <a:rPr lang="en-US" altLang="en-US" sz="3360"/>
              <a:t>. </a:t>
            </a:r>
          </a:p>
          <a:p>
            <a:r>
              <a:rPr lang="en-US" altLang="en-US" sz="3360"/>
              <a:t>Usually, when the organization decides to have some sort of work done, it wants the </a:t>
            </a:r>
            <a:r>
              <a:rPr lang="en-US" altLang="en-US" sz="3360" b="1"/>
              <a:t>best job for the best price</a:t>
            </a:r>
            <a:r>
              <a:rPr lang="en-US" altLang="en-US" sz="336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700DB63-A116-3EAD-118B-83C907C4F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Proposals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0AB1-9C8A-9134-66D6-561B36E86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Internal proposals:</a:t>
            </a:r>
          </a:p>
          <a:p>
            <a:pPr marL="0" indent="0">
              <a:buNone/>
              <a:defRPr/>
            </a:pPr>
            <a:r>
              <a:rPr lang="en-US" dirty="0"/>
              <a:t>     to persuade corporate decision makers to address issues and provide resource.</a:t>
            </a:r>
          </a:p>
          <a:p>
            <a:pPr>
              <a:defRPr/>
            </a:pPr>
            <a:r>
              <a:rPr lang="en-US" dirty="0"/>
              <a:t>External proposals:</a:t>
            </a:r>
          </a:p>
          <a:p>
            <a:pPr marL="0" indent="0">
              <a:buNone/>
              <a:defRPr/>
            </a:pPr>
            <a:r>
              <a:rPr lang="en-US" dirty="0"/>
              <a:t>    to sell a new service or product to a potential customer.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8F76C2A-8243-AD8C-4A61-30C3FB479387}"/>
              </a:ext>
            </a:extLst>
          </p:cNvPr>
          <p:cNvSpPr/>
          <p:nvPr/>
        </p:nvSpPr>
        <p:spPr>
          <a:xfrm>
            <a:off x="610969" y="2564904"/>
            <a:ext cx="702946" cy="259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97280">
              <a:defRPr/>
            </a:pPr>
            <a:endParaRPr lang="en-US" sz="216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77366FD-8350-229C-EC70-9531613B50B9}"/>
              </a:ext>
            </a:extLst>
          </p:cNvPr>
          <p:cNvSpPr/>
          <p:nvPr/>
        </p:nvSpPr>
        <p:spPr>
          <a:xfrm>
            <a:off x="579738" y="4509120"/>
            <a:ext cx="617220" cy="259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97280">
              <a:defRPr/>
            </a:pPr>
            <a:endParaRPr lang="en-US" sz="216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6150" name="Picture 7">
            <a:extLst>
              <a:ext uri="{FF2B5EF4-FFF2-40B4-BE49-F238E27FC236}">
                <a16:creationId xmlns:a16="http://schemas.microsoft.com/office/drawing/2014/main" id="{C03EF0F9-1DC0-ACDC-5D21-DAFC78F85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836" y="5114926"/>
            <a:ext cx="2937510" cy="1468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A82CEB5-CF45-53A6-E9CF-C73B4BF76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240" y="274320"/>
            <a:ext cx="9875520" cy="649606"/>
          </a:xfrm>
        </p:spPr>
        <p:txBody>
          <a:bodyPr/>
          <a:lstStyle/>
          <a:p>
            <a:r>
              <a:rPr lang="en-US" altLang="en-US" sz="3840" b="1"/>
              <a:t>Proposal writing-An art of persuasion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A92D43EE-C15A-89AF-4FAF-5BE73DDC41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240" y="1095376"/>
            <a:ext cx="9875520" cy="5031104"/>
          </a:xfrm>
        </p:spPr>
        <p:txBody>
          <a:bodyPr/>
          <a:lstStyle/>
          <a:p>
            <a:r>
              <a:rPr lang="en-US" altLang="en-US"/>
              <a:t>Proposals are generally written for decision makers. Hence, when you write a proposal, your goal is to sell an idea </a:t>
            </a:r>
            <a:r>
              <a:rPr lang="en-US" altLang="en-US" b="1"/>
              <a:t>persuasively</a:t>
            </a:r>
            <a:r>
              <a:rPr lang="en-US" altLang="en-US"/>
              <a:t>.</a:t>
            </a:r>
          </a:p>
          <a:p>
            <a:r>
              <a:rPr lang="en-US" altLang="en-US"/>
              <a:t>Developing and writing the proposal might take hours or months. </a:t>
            </a:r>
          </a:p>
          <a:p>
            <a:r>
              <a:rPr lang="en-US" altLang="en-US"/>
              <a:t>If your job depends on funding from outside sources, proposals might be the most important documents you produce.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3AA9F26E-028D-6AB1-28E2-BE30024F8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240" y="274320"/>
            <a:ext cx="9875520" cy="908686"/>
          </a:xfrm>
        </p:spPr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C837E4C6-D451-A28A-5E30-4F4737A23C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240" y="1354456"/>
            <a:ext cx="9875520" cy="5229224"/>
          </a:xfrm>
        </p:spPr>
        <p:txBody>
          <a:bodyPr/>
          <a:lstStyle/>
          <a:p>
            <a:r>
              <a:rPr lang="en-US" altLang="en-US" sz="2400"/>
              <a:t>Your company’s insurance coverage is skyrocketing. As a member of the HR, you have researched insurance carriers and now will propose insurance options or opt‐out options to upper‐level management.</a:t>
            </a:r>
          </a:p>
          <a:p>
            <a:r>
              <a:rPr lang="en-US" altLang="en-US" sz="2400"/>
              <a:t>Your company is migrating to a new software platform. Employees will need training to use the software. You propose consulting companies that can offer training, optional schedules, funding sources, and post‐training certification.</a:t>
            </a:r>
          </a:p>
          <a:p>
            <a:r>
              <a:rPr lang="en-US" altLang="en-US" sz="2400"/>
              <a:t>Your biotechnology company has developed a new software for running virtual cell cultures. The software simulates cell runs and displays synchronous strip charts for sterile monitoring. You write a proposal not only to sell the software, but also provide consulting services to train clients in the software use.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E6DABBC0-9BEE-CCB5-2F73-41D31E375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b="1"/>
              <a:t>What proposal reviewers want to know?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1E14B920-9190-2116-B79C-B40CAE7C3F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8240" y="1600200"/>
            <a:ext cx="9875520" cy="5257800"/>
          </a:xfrm>
        </p:spPr>
        <p:txBody>
          <a:bodyPr/>
          <a:lstStyle/>
          <a:p>
            <a:r>
              <a:rPr lang="en-US" altLang="en-US" sz="3360" dirty="0"/>
              <a:t>What exactly is the problem or need, and why is this such a big deal?</a:t>
            </a:r>
          </a:p>
          <a:p>
            <a:r>
              <a:rPr lang="en-US" altLang="en-US" sz="3360" dirty="0"/>
              <a:t>Why should we spend time, money, and effort on this?</a:t>
            </a:r>
          </a:p>
          <a:p>
            <a:r>
              <a:rPr lang="en-US" altLang="en-US" sz="3360" dirty="0"/>
              <a:t>What exactly is your plan, and how do we know it is feasible?</a:t>
            </a:r>
          </a:p>
          <a:p>
            <a:r>
              <a:rPr lang="en-US" altLang="en-US" sz="3360" dirty="0"/>
              <a:t>Why should we accept the items that seem costly about your plan?</a:t>
            </a:r>
          </a:p>
          <a:p>
            <a:r>
              <a:rPr lang="en-US" altLang="en-US" sz="3360" dirty="0"/>
              <a:t>What action are we supposed to take?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370A09E2-E840-7E0B-14D6-6F1E07C9F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8240" y="274321"/>
            <a:ext cx="9875520" cy="735330"/>
          </a:xfrm>
        </p:spPr>
        <p:txBody>
          <a:bodyPr/>
          <a:lstStyle/>
          <a:p>
            <a:r>
              <a:rPr lang="en-US" altLang="en-US" sz="4320"/>
              <a:t>Basic persuasive tasks of a proposal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63D2F489-112D-51E0-04EE-0CCE8F367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988839"/>
            <a:ext cx="10972800" cy="4137641"/>
          </a:xfrm>
        </p:spPr>
        <p:txBody>
          <a:bodyPr/>
          <a:lstStyle/>
          <a:p>
            <a:endParaRPr lang="en-US" altLang="en-US" sz="2880" dirty="0"/>
          </a:p>
          <a:p>
            <a:r>
              <a:rPr lang="en-US" altLang="en-US" sz="3360" dirty="0"/>
              <a:t>Spell out the problem clearly and convincingly.</a:t>
            </a:r>
          </a:p>
          <a:p>
            <a:r>
              <a:rPr lang="en-US" altLang="en-US" sz="3360" dirty="0"/>
              <a:t>Point out the benefits of solving the problem.</a:t>
            </a:r>
          </a:p>
          <a:p>
            <a:r>
              <a:rPr lang="en-US" altLang="en-US" sz="3360" dirty="0"/>
              <a:t>Offer a realistic, cost-effective solution.</a:t>
            </a:r>
          </a:p>
          <a:p>
            <a:r>
              <a:rPr lang="en-US" altLang="en-US" sz="3360" dirty="0"/>
              <a:t>Address anticipated objections to your solution.</a:t>
            </a:r>
          </a:p>
          <a:p>
            <a:r>
              <a:rPr lang="en-US" altLang="en-US" sz="3360" dirty="0"/>
              <a:t>Convince your audience to 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Content Placeholder 4">
            <a:extLst>
              <a:ext uri="{FF2B5EF4-FFF2-40B4-BE49-F238E27FC236}">
                <a16:creationId xmlns:a16="http://schemas.microsoft.com/office/drawing/2014/main" id="{27FBFB01-DCF1-6014-BB5D-F388608049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9140" y="318136"/>
            <a:ext cx="10627996" cy="622173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25651</TotalTime>
  <Words>510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Default Design</vt:lpstr>
      <vt:lpstr>1_Default Design</vt:lpstr>
      <vt:lpstr>PowerPoint Presentation</vt:lpstr>
      <vt:lpstr>Today’s Lecture</vt:lpstr>
      <vt:lpstr>What is a proposal?</vt:lpstr>
      <vt:lpstr>Types of Proposals</vt:lpstr>
      <vt:lpstr>Proposal writing-An art of persuasion</vt:lpstr>
      <vt:lpstr>Examples</vt:lpstr>
      <vt:lpstr>What proposal reviewers want to know?</vt:lpstr>
      <vt:lpstr>Basic persuasive tasks of a proposal</vt:lpstr>
      <vt:lpstr>PowerPoint Presentation</vt:lpstr>
    </vt:vector>
  </TitlesOfParts>
  <Company>INSA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Structures CSC 102</dc:title>
  <dc:creator>Rasheed</dc:creator>
  <cp:lastModifiedBy>Samia Tahir</cp:lastModifiedBy>
  <cp:revision>418</cp:revision>
  <dcterms:created xsi:type="dcterms:W3CDTF">2012-03-24T09:18:04Z</dcterms:created>
  <dcterms:modified xsi:type="dcterms:W3CDTF">2026-04-20T08:55:07Z</dcterms:modified>
</cp:coreProperties>
</file>